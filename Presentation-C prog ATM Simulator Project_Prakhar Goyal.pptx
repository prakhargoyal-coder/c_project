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Calibri" pitchFamily="34" charset="0"/>
      <p:regular r:id="rId16"/>
      <p:bold r:id="rId17"/>
      <p:italic r:id="rId18"/>
      <p:boldItalic r:id="rId19"/>
    </p:embeddedFont>
    <p:embeddedFont>
      <p:font typeface="Times New Roman MT" charset="0"/>
      <p:regular r:id="rId20"/>
    </p:embeddedFont>
    <p:embeddedFont>
      <p:font typeface="Helvetica World" charset="-128"/>
      <p:regular r:id="rId21"/>
    </p:embeddedFont>
    <p:embeddedFont>
      <p:font typeface="Helvetica World Bold" charset="-128"/>
      <p:regular r:id="rId22"/>
    </p:embeddedFont>
    <p:embeddedFont>
      <p:font typeface="Georgia Pro Condensed" charset="0"/>
      <p:regular r:id="rId23"/>
    </p:embeddedFont>
    <p:embeddedFont>
      <p:font typeface="Helvetica World Bold Italics" charset="-128"/>
      <p:regular r:id="rId24"/>
    </p:embeddedFont>
    <p:embeddedFont>
      <p:font typeface="DM Serif Display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-1906" y="-77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8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1868150" y="3884984"/>
            <a:ext cx="5753100" cy="6402016"/>
            <a:chOff x="0" y="0"/>
            <a:chExt cx="814724" cy="90662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4724" cy="906621"/>
            </a:xfrm>
            <a:custGeom>
              <a:avLst/>
              <a:gdLst/>
              <a:ahLst/>
              <a:cxnLst/>
              <a:rect l="l" t="t" r="r" b="b"/>
              <a:pathLst>
                <a:path w="814724" h="906621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879707"/>
                  </a:lnTo>
                  <a:cubicBezTo>
                    <a:pt x="814724" y="894571"/>
                    <a:pt x="802675" y="906621"/>
                    <a:pt x="787810" y="906621"/>
                  </a:cubicBezTo>
                  <a:lnTo>
                    <a:pt x="26914" y="906621"/>
                  </a:lnTo>
                  <a:cubicBezTo>
                    <a:pt x="19776" y="906621"/>
                    <a:pt x="12930" y="903785"/>
                    <a:pt x="7883" y="898738"/>
                  </a:cubicBezTo>
                  <a:cubicBezTo>
                    <a:pt x="2836" y="893690"/>
                    <a:pt x="0" y="886845"/>
                    <a:pt x="0" y="879707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t="-20206" b="-20206"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>
            <a:off x="14744700" y="-44501"/>
            <a:ext cx="3442342" cy="2146401"/>
          </a:xfrm>
          <a:custGeom>
            <a:avLst/>
            <a:gdLst/>
            <a:ahLst/>
            <a:cxnLst/>
            <a:rect l="l" t="t" r="r" b="b"/>
            <a:pathLst>
              <a:path w="3442342" h="2146401">
                <a:moveTo>
                  <a:pt x="0" y="0"/>
                </a:moveTo>
                <a:lnTo>
                  <a:pt x="3442342" y="0"/>
                </a:lnTo>
                <a:lnTo>
                  <a:pt x="3442342" y="2146402"/>
                </a:lnTo>
                <a:lnTo>
                  <a:pt x="0" y="21464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4006866" y="6115049"/>
            <a:ext cx="7478614" cy="3704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940"/>
              </a:lnSpc>
            </a:pPr>
            <a:r>
              <a:rPr lang="en-US" sz="3800" spc="-57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Presented by -Prakhar Goyal</a:t>
            </a:r>
          </a:p>
          <a:p>
            <a:pPr algn="r">
              <a:lnSpc>
                <a:spcPts val="4940"/>
              </a:lnSpc>
            </a:pPr>
            <a:r>
              <a:rPr lang="en-US" sz="3800" spc="-57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                       SAP ID:590027648</a:t>
            </a:r>
          </a:p>
          <a:p>
            <a:pPr algn="r">
              <a:lnSpc>
                <a:spcPts val="4940"/>
              </a:lnSpc>
            </a:pPr>
            <a:r>
              <a:rPr lang="en-US" sz="3800" spc="-57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                         Batch-59 </a:t>
            </a:r>
          </a:p>
          <a:p>
            <a:pPr algn="r">
              <a:lnSpc>
                <a:spcPts val="4940"/>
              </a:lnSpc>
            </a:pPr>
            <a:r>
              <a:rPr lang="en-US" sz="3800" spc="-57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                      Semester-1</a:t>
            </a:r>
          </a:p>
          <a:p>
            <a:pPr algn="r">
              <a:lnSpc>
                <a:spcPts val="4940"/>
              </a:lnSpc>
            </a:pPr>
            <a:r>
              <a:rPr lang="en-US" sz="3800" spc="-57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Course Name-Programming In C</a:t>
            </a:r>
          </a:p>
          <a:p>
            <a:pPr marL="0" lvl="0" indent="0" algn="r">
              <a:lnSpc>
                <a:spcPts val="4940"/>
              </a:lnSpc>
            </a:pPr>
            <a:r>
              <a:rPr lang="en-US" sz="3800" spc="-57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       SOCS,UPES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99355" y="2368601"/>
            <a:ext cx="16759945" cy="1871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4044"/>
              </a:lnSpc>
            </a:pPr>
            <a:r>
              <a:rPr lang="en-US" sz="14044" u="none" strike="noStrike" spc="-491" dirty="0">
                <a:solidFill>
                  <a:srgbClr val="004A99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ATM-Simulator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259300" y="9220200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4D4D4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6750" y="666750"/>
            <a:ext cx="16954500" cy="8953500"/>
            <a:chOff x="0" y="0"/>
            <a:chExt cx="4465383" cy="235812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465383" cy="2358124"/>
            </a:xfrm>
            <a:custGeom>
              <a:avLst/>
              <a:gdLst/>
              <a:ahLst/>
              <a:cxnLst/>
              <a:rect l="l" t="t" r="r" b="b"/>
              <a:pathLst>
                <a:path w="4465383" h="2358124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CEAD"/>
            </a:solidFill>
            <a:ln cap="rnd">
              <a:noFill/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402015" y="1463633"/>
            <a:ext cx="15436119" cy="7731209"/>
            <a:chOff x="0" y="0"/>
            <a:chExt cx="20581491" cy="10308278"/>
          </a:xfrm>
        </p:grpSpPr>
        <p:sp>
          <p:nvSpPr>
            <p:cNvPr id="7" name="TextBox 7"/>
            <p:cNvSpPr txBox="1"/>
            <p:nvPr/>
          </p:nvSpPr>
          <p:spPr>
            <a:xfrm>
              <a:off x="0" y="-85725"/>
              <a:ext cx="20581491" cy="16681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0140"/>
                </a:lnSpc>
              </a:pPr>
              <a:r>
                <a:rPr lang="en-US" sz="7800" spc="-234">
                  <a:solidFill>
                    <a:srgbClr val="004A99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Introduction: 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2162498"/>
              <a:ext cx="20581491" cy="81457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839"/>
                </a:lnSpc>
              </a:pPr>
              <a:endParaRPr/>
            </a:p>
            <a:p>
              <a:pPr algn="l">
                <a:lnSpc>
                  <a:spcPts val="4560"/>
                </a:lnSpc>
              </a:pPr>
              <a:r>
                <a:rPr lang="en-US" sz="3800" b="1" spc="-57">
                  <a:solidFill>
                    <a:srgbClr val="004A99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This project on Automated Teller Machine(ATM) is made using C Programming language.</a:t>
              </a:r>
            </a:p>
            <a:p>
              <a:pPr algn="l">
                <a:lnSpc>
                  <a:spcPts val="4559"/>
                </a:lnSpc>
              </a:pPr>
              <a:r>
                <a:rPr lang="en-US" sz="3799" b="1" spc="-56">
                  <a:solidFill>
                    <a:srgbClr val="004A99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This is a simulation of real ATM,it allows a single user to</a:t>
              </a:r>
            </a:p>
            <a:p>
              <a:pPr algn="l">
                <a:lnSpc>
                  <a:spcPts val="4559"/>
                </a:lnSpc>
              </a:pPr>
              <a:r>
                <a:rPr lang="en-US" sz="3799" b="1" spc="-56">
                  <a:solidFill>
                    <a:srgbClr val="004A99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perform various everyday needed operations like ,logging in</a:t>
              </a:r>
            </a:p>
            <a:p>
              <a:pPr algn="l">
                <a:lnSpc>
                  <a:spcPts val="4559"/>
                </a:lnSpc>
              </a:pPr>
              <a:r>
                <a:rPr lang="en-US" sz="3799" b="1" spc="-56">
                  <a:solidFill>
                    <a:srgbClr val="004A99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via a pin(with max 3 wrong attempts for Security</a:t>
              </a:r>
            </a:p>
            <a:p>
              <a:pPr algn="l">
                <a:lnSpc>
                  <a:spcPts val="4559"/>
                </a:lnSpc>
              </a:pPr>
              <a:r>
                <a:rPr lang="en-US" sz="3799" b="1" spc="-56">
                  <a:solidFill>
                    <a:srgbClr val="004A99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feature),checking account balance,depositng and</a:t>
              </a:r>
            </a:p>
            <a:p>
              <a:pPr algn="l">
                <a:lnSpc>
                  <a:spcPts val="4559"/>
                </a:lnSpc>
              </a:pPr>
              <a:r>
                <a:rPr lang="en-US" sz="3799" b="1" spc="-56">
                  <a:solidFill>
                    <a:srgbClr val="004A99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withdrawing money,changing atm pin,changing</a:t>
              </a:r>
            </a:p>
            <a:p>
              <a:pPr algn="l">
                <a:lnSpc>
                  <a:spcPts val="4559"/>
                </a:lnSpc>
              </a:pPr>
              <a:r>
                <a:rPr lang="en-US" sz="3799" b="1" spc="-56">
                  <a:solidFill>
                    <a:srgbClr val="004A99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username,prinntng receipt and mini transaction history (on</a:t>
              </a:r>
            </a:p>
            <a:p>
              <a:pPr marL="0" lvl="0" indent="0" algn="l">
                <a:lnSpc>
                  <a:spcPts val="4559"/>
                </a:lnSpc>
                <a:spcBef>
                  <a:spcPct val="0"/>
                </a:spcBef>
              </a:pPr>
              <a:r>
                <a:rPr lang="en-US" sz="3799" b="1" spc="-56">
                  <a:solidFill>
                    <a:srgbClr val="004A99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screen) using file handling concepts.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800225" y="5140324"/>
            <a:ext cx="150379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402015" y="1463633"/>
            <a:ext cx="14205338" cy="1352679"/>
            <a:chOff x="0" y="0"/>
            <a:chExt cx="3741323" cy="35626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41324" cy="356261"/>
            </a:xfrm>
            <a:custGeom>
              <a:avLst/>
              <a:gdLst/>
              <a:ahLst/>
              <a:cxnLst/>
              <a:rect l="l" t="t" r="r" b="b"/>
              <a:pathLst>
                <a:path w="3741324" h="356261">
                  <a:moveTo>
                    <a:pt x="9265" y="0"/>
                  </a:moveTo>
                  <a:lnTo>
                    <a:pt x="3732059" y="0"/>
                  </a:lnTo>
                  <a:cubicBezTo>
                    <a:pt x="3734516" y="0"/>
                    <a:pt x="3736872" y="976"/>
                    <a:pt x="3738610" y="2714"/>
                  </a:cubicBezTo>
                  <a:cubicBezTo>
                    <a:pt x="3740347" y="4451"/>
                    <a:pt x="3741324" y="6808"/>
                    <a:pt x="3741324" y="9265"/>
                  </a:cubicBezTo>
                  <a:lnTo>
                    <a:pt x="3741324" y="346996"/>
                  </a:lnTo>
                  <a:cubicBezTo>
                    <a:pt x="3741324" y="352113"/>
                    <a:pt x="3737175" y="356261"/>
                    <a:pt x="3732059" y="356261"/>
                  </a:cubicBezTo>
                  <a:lnTo>
                    <a:pt x="9265" y="356261"/>
                  </a:lnTo>
                  <a:cubicBezTo>
                    <a:pt x="4148" y="356261"/>
                    <a:pt x="0" y="352113"/>
                    <a:pt x="0" y="346996"/>
                  </a:cubicBezTo>
                  <a:lnTo>
                    <a:pt x="0" y="9265"/>
                  </a:lnTo>
                  <a:cubicBezTo>
                    <a:pt x="0" y="4148"/>
                    <a:pt x="4148" y="0"/>
                    <a:pt x="926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4A99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3741323" cy="3943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28700" y="3373515"/>
            <a:ext cx="15546664" cy="5884785"/>
            <a:chOff x="0" y="0"/>
            <a:chExt cx="4094595" cy="154990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094595" cy="1549902"/>
            </a:xfrm>
            <a:custGeom>
              <a:avLst/>
              <a:gdLst/>
              <a:ahLst/>
              <a:cxnLst/>
              <a:rect l="l" t="t" r="r" b="b"/>
              <a:pathLst>
                <a:path w="4094595" h="1549902">
                  <a:moveTo>
                    <a:pt x="8466" y="0"/>
                  </a:moveTo>
                  <a:lnTo>
                    <a:pt x="4086129" y="0"/>
                  </a:lnTo>
                  <a:cubicBezTo>
                    <a:pt x="4088374" y="0"/>
                    <a:pt x="4090527" y="892"/>
                    <a:pt x="4092115" y="2480"/>
                  </a:cubicBezTo>
                  <a:cubicBezTo>
                    <a:pt x="4093703" y="4067"/>
                    <a:pt x="4094595" y="6220"/>
                    <a:pt x="4094595" y="8466"/>
                  </a:cubicBezTo>
                  <a:lnTo>
                    <a:pt x="4094595" y="1541436"/>
                  </a:lnTo>
                  <a:cubicBezTo>
                    <a:pt x="4094595" y="1543682"/>
                    <a:pt x="4093703" y="1545835"/>
                    <a:pt x="4092115" y="1547423"/>
                  </a:cubicBezTo>
                  <a:cubicBezTo>
                    <a:pt x="4090527" y="1549010"/>
                    <a:pt x="4088374" y="1549902"/>
                    <a:pt x="4086129" y="1549902"/>
                  </a:cubicBezTo>
                  <a:lnTo>
                    <a:pt x="8466" y="1549902"/>
                  </a:lnTo>
                  <a:cubicBezTo>
                    <a:pt x="6220" y="1549902"/>
                    <a:pt x="4067" y="1549010"/>
                    <a:pt x="2480" y="1547423"/>
                  </a:cubicBezTo>
                  <a:cubicBezTo>
                    <a:pt x="892" y="1545835"/>
                    <a:pt x="0" y="1543682"/>
                    <a:pt x="0" y="1541436"/>
                  </a:cubicBezTo>
                  <a:lnTo>
                    <a:pt x="0" y="8466"/>
                  </a:lnTo>
                  <a:cubicBezTo>
                    <a:pt x="0" y="6220"/>
                    <a:pt x="892" y="4067"/>
                    <a:pt x="2480" y="2480"/>
                  </a:cubicBezTo>
                  <a:cubicBezTo>
                    <a:pt x="4067" y="892"/>
                    <a:pt x="6220" y="0"/>
                    <a:pt x="846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4A99"/>
              </a:solidFill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094595" cy="15880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CEA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78564" y="356861"/>
            <a:ext cx="5421273" cy="1747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004A99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Objectives: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0" y="2626169"/>
            <a:ext cx="17778985" cy="6381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ctr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build a simple and easy to use ATM Simulator in C that feels similar to a real ATM experience.</a:t>
            </a:r>
          </a:p>
          <a:p>
            <a:pPr marL="647700" lvl="1" indent="-323850" algn="ctr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apply the concepts taught  by our professor in the semester</a:t>
            </a:r>
          </a:p>
          <a:p>
            <a:pPr marL="647700" lvl="1" indent="-323850" algn="ctr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allow the user to perform everday ATM operations tasks like logging in an ATM with secure PIN,checking current balance,deposit and withdraw money,change PIN,etc</a:t>
            </a:r>
          </a:p>
          <a:p>
            <a:pPr marL="647700" lvl="1" indent="-323850" algn="ctr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use the concepts of file handling so the ATM can can remember acc details even after the program is terminated.</a:t>
            </a:r>
          </a:p>
          <a:p>
            <a:pPr marL="647700" lvl="1" indent="-323850" algn="ctr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use the concept of modular programming approach and breaking the code into clean and reusable functions that are easy to understand.</a:t>
            </a:r>
          </a:p>
          <a:p>
            <a:pPr marL="647700" lvl="1" indent="-323850" algn="ctr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get a clearer idea how real ATM machine work behind the scene</a:t>
            </a:r>
          </a:p>
          <a:p>
            <a:pPr marL="647700" lvl="1" indent="-323850" algn="ctr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implement a basic easy security mechanism (3 wrong PIN attempts) to make ATM feel mor elike real ATM.</a:t>
            </a:r>
          </a:p>
          <a:p>
            <a:pPr marL="647700" lvl="1" indent="-323850" algn="ctr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improve my understanding and logic building by handling different types of user input cases.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709286"/>
            <a:ext cx="5998125" cy="1266974"/>
            <a:chOff x="0" y="0"/>
            <a:chExt cx="1579753" cy="3336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579753" cy="333689"/>
            </a:xfrm>
            <a:custGeom>
              <a:avLst/>
              <a:gdLst/>
              <a:ahLst/>
              <a:cxnLst/>
              <a:rect l="l" t="t" r="r" b="b"/>
              <a:pathLst>
                <a:path w="1579753" h="333689">
                  <a:moveTo>
                    <a:pt x="34850" y="0"/>
                  </a:moveTo>
                  <a:lnTo>
                    <a:pt x="1544904" y="0"/>
                  </a:lnTo>
                  <a:cubicBezTo>
                    <a:pt x="1554146" y="0"/>
                    <a:pt x="1563010" y="3672"/>
                    <a:pt x="1569546" y="10207"/>
                  </a:cubicBezTo>
                  <a:cubicBezTo>
                    <a:pt x="1576081" y="16743"/>
                    <a:pt x="1579753" y="25607"/>
                    <a:pt x="1579753" y="34850"/>
                  </a:cubicBezTo>
                  <a:lnTo>
                    <a:pt x="1579753" y="298839"/>
                  </a:lnTo>
                  <a:cubicBezTo>
                    <a:pt x="1579753" y="318086"/>
                    <a:pt x="1564150" y="333689"/>
                    <a:pt x="1544904" y="333689"/>
                  </a:cubicBezTo>
                  <a:lnTo>
                    <a:pt x="34850" y="333689"/>
                  </a:lnTo>
                  <a:cubicBezTo>
                    <a:pt x="25607" y="333689"/>
                    <a:pt x="16743" y="330017"/>
                    <a:pt x="10207" y="323481"/>
                  </a:cubicBezTo>
                  <a:cubicBezTo>
                    <a:pt x="3672" y="316946"/>
                    <a:pt x="0" y="308082"/>
                    <a:pt x="0" y="298839"/>
                  </a:cubicBezTo>
                  <a:lnTo>
                    <a:pt x="0" y="34850"/>
                  </a:lnTo>
                  <a:cubicBezTo>
                    <a:pt x="0" y="25607"/>
                    <a:pt x="3672" y="16743"/>
                    <a:pt x="10207" y="10207"/>
                  </a:cubicBezTo>
                  <a:cubicBezTo>
                    <a:pt x="16743" y="3672"/>
                    <a:pt x="25607" y="0"/>
                    <a:pt x="3485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4AAD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579753" cy="3717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2522924"/>
            <a:ext cx="18047985" cy="7269910"/>
            <a:chOff x="0" y="0"/>
            <a:chExt cx="4753379" cy="191470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753379" cy="1914709"/>
            </a:xfrm>
            <a:custGeom>
              <a:avLst/>
              <a:gdLst/>
              <a:ahLst/>
              <a:cxnLst/>
              <a:rect l="l" t="t" r="r" b="b"/>
              <a:pathLst>
                <a:path w="4753379" h="1914709">
                  <a:moveTo>
                    <a:pt x="7292" y="0"/>
                  </a:moveTo>
                  <a:lnTo>
                    <a:pt x="4746087" y="0"/>
                  </a:lnTo>
                  <a:cubicBezTo>
                    <a:pt x="4748021" y="0"/>
                    <a:pt x="4749876" y="768"/>
                    <a:pt x="4751243" y="2136"/>
                  </a:cubicBezTo>
                  <a:cubicBezTo>
                    <a:pt x="4752611" y="3503"/>
                    <a:pt x="4753379" y="5358"/>
                    <a:pt x="4753379" y="7292"/>
                  </a:cubicBezTo>
                  <a:lnTo>
                    <a:pt x="4753379" y="1907416"/>
                  </a:lnTo>
                  <a:cubicBezTo>
                    <a:pt x="4753379" y="1911444"/>
                    <a:pt x="4750114" y="1914709"/>
                    <a:pt x="4746087" y="1914709"/>
                  </a:cubicBezTo>
                  <a:lnTo>
                    <a:pt x="7292" y="1914709"/>
                  </a:lnTo>
                  <a:cubicBezTo>
                    <a:pt x="3265" y="1914709"/>
                    <a:pt x="0" y="1911444"/>
                    <a:pt x="0" y="1907416"/>
                  </a:cubicBezTo>
                  <a:lnTo>
                    <a:pt x="0" y="7292"/>
                  </a:lnTo>
                  <a:cubicBezTo>
                    <a:pt x="0" y="3265"/>
                    <a:pt x="3265" y="0"/>
                    <a:pt x="729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4AAD"/>
              </a:solidFill>
              <a:prstDash val="lgDash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753379" cy="195280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CEA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846952" y="962488"/>
            <a:ext cx="13764647" cy="21672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856"/>
              </a:lnSpc>
            </a:pPr>
            <a:r>
              <a:rPr lang="en-US" sz="12040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</a:t>
            </a:r>
            <a:r>
              <a:rPr lang="en-US" sz="12040" dirty="0" smtClean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Definition</a:t>
            </a:r>
            <a:endParaRPr lang="en-US" sz="12040" dirty="0">
              <a:solidFill>
                <a:srgbClr val="004A9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2816472" y="962488"/>
            <a:ext cx="13531982" cy="2251412"/>
            <a:chOff x="0" y="0"/>
            <a:chExt cx="3563979" cy="59296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563979" cy="592964"/>
            </a:xfrm>
            <a:custGeom>
              <a:avLst/>
              <a:gdLst/>
              <a:ahLst/>
              <a:cxnLst/>
              <a:rect l="l" t="t" r="r" b="b"/>
              <a:pathLst>
                <a:path w="3563979" h="592964">
                  <a:moveTo>
                    <a:pt x="9726" y="0"/>
                  </a:moveTo>
                  <a:lnTo>
                    <a:pt x="3554253" y="0"/>
                  </a:lnTo>
                  <a:cubicBezTo>
                    <a:pt x="3556833" y="0"/>
                    <a:pt x="3559306" y="1025"/>
                    <a:pt x="3561130" y="2849"/>
                  </a:cubicBezTo>
                  <a:cubicBezTo>
                    <a:pt x="3562954" y="4673"/>
                    <a:pt x="3563979" y="7147"/>
                    <a:pt x="3563979" y="9726"/>
                  </a:cubicBezTo>
                  <a:lnTo>
                    <a:pt x="3563979" y="583238"/>
                  </a:lnTo>
                  <a:cubicBezTo>
                    <a:pt x="3563979" y="585818"/>
                    <a:pt x="3562954" y="588292"/>
                    <a:pt x="3561130" y="590116"/>
                  </a:cubicBezTo>
                  <a:cubicBezTo>
                    <a:pt x="3559306" y="591940"/>
                    <a:pt x="3556833" y="592964"/>
                    <a:pt x="3554253" y="592964"/>
                  </a:cubicBezTo>
                  <a:lnTo>
                    <a:pt x="9726" y="592964"/>
                  </a:lnTo>
                  <a:cubicBezTo>
                    <a:pt x="4354" y="592964"/>
                    <a:pt x="0" y="588610"/>
                    <a:pt x="0" y="583238"/>
                  </a:cubicBezTo>
                  <a:lnTo>
                    <a:pt x="0" y="9726"/>
                  </a:lnTo>
                  <a:cubicBezTo>
                    <a:pt x="0" y="7147"/>
                    <a:pt x="1025" y="4673"/>
                    <a:pt x="2849" y="2849"/>
                  </a:cubicBezTo>
                  <a:cubicBezTo>
                    <a:pt x="4673" y="1025"/>
                    <a:pt x="7147" y="0"/>
                    <a:pt x="9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4A99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3563979" cy="6310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0" y="4066915"/>
            <a:ext cx="17757752" cy="6169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2" lvl="1" indent="-377821" algn="ctr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 everyday </a:t>
            </a:r>
            <a:r>
              <a:rPr lang="en-US" sz="3499" dirty="0" err="1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life,ATM</a:t>
            </a: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is used by people everyday but very few know what happens inside the </a:t>
            </a:r>
            <a:r>
              <a:rPr lang="en-US" sz="3499" dirty="0" err="1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machine’software</a:t>
            </a: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how it updates the account balance and info.</a:t>
            </a:r>
          </a:p>
          <a:p>
            <a:pPr marL="755642" lvl="1" indent="-377821" algn="ctr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 is a need to simulate how an ATM performs tasks like </a:t>
            </a:r>
            <a:r>
              <a:rPr lang="en-US" sz="3499" dirty="0" err="1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login,transactions</a:t>
            </a: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and error handling</a:t>
            </a:r>
          </a:p>
          <a:p>
            <a:pPr marL="734053" lvl="1" indent="-367026" algn="ctr">
              <a:lnSpc>
                <a:spcPts val="4759"/>
              </a:lnSpc>
              <a:buFont typeface="Arial"/>
              <a:buChar char="•"/>
            </a:pPr>
            <a:r>
              <a:rPr lang="en-US" sz="33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system must allow secure login using a 4 digit PIN with only 3 attempt allowed.</a:t>
            </a:r>
          </a:p>
          <a:p>
            <a:pPr marL="755642" lvl="1" indent="-377821" algn="ctr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should support  basic banking operations like checking </a:t>
            </a:r>
            <a:r>
              <a:rPr lang="en-US" sz="3499" dirty="0" err="1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balance,deposit</a:t>
            </a: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and withdraw </a:t>
            </a:r>
            <a:r>
              <a:rPr lang="en-US" sz="3499" dirty="0" err="1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money,change</a:t>
            </a: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499" dirty="0" err="1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PIN,username,Mini</a:t>
            </a: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Transaction History.</a:t>
            </a:r>
          </a:p>
          <a:p>
            <a:pPr marL="755642" lvl="1" indent="-377821" algn="ctr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User data must be stored in a file using file handling .</a:t>
            </a:r>
          </a:p>
          <a:p>
            <a:pPr marL="755642" lvl="1" indent="-377821" algn="ctr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system </a:t>
            </a:r>
            <a:r>
              <a:rPr lang="en-US" sz="3499" dirty="0" err="1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msut</a:t>
            </a: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handle </a:t>
            </a:r>
            <a:r>
              <a:rPr lang="en-US" sz="3499" dirty="0" err="1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invlaind</a:t>
            </a: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inputs and maintain errorless operations</a:t>
            </a:r>
          </a:p>
          <a:p>
            <a:pPr marL="755642" lvl="1" indent="-377821" algn="ctr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4A9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interface must be like real ATM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457200" y="3717215"/>
            <a:ext cx="17693326" cy="6569785"/>
            <a:chOff x="0" y="-38100"/>
            <a:chExt cx="4659970" cy="173031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59970" cy="1692214"/>
            </a:xfrm>
            <a:custGeom>
              <a:avLst/>
              <a:gdLst/>
              <a:ahLst/>
              <a:cxnLst/>
              <a:rect l="l" t="t" r="r" b="b"/>
              <a:pathLst>
                <a:path w="4599763" h="1692214">
                  <a:moveTo>
                    <a:pt x="7536" y="0"/>
                  </a:moveTo>
                  <a:lnTo>
                    <a:pt x="4592227" y="0"/>
                  </a:lnTo>
                  <a:cubicBezTo>
                    <a:pt x="4594226" y="0"/>
                    <a:pt x="4596143" y="794"/>
                    <a:pt x="4597556" y="2207"/>
                  </a:cubicBezTo>
                  <a:cubicBezTo>
                    <a:pt x="4598969" y="3620"/>
                    <a:pt x="4599763" y="5537"/>
                    <a:pt x="4599763" y="7536"/>
                  </a:cubicBezTo>
                  <a:lnTo>
                    <a:pt x="4599763" y="1684678"/>
                  </a:lnTo>
                  <a:cubicBezTo>
                    <a:pt x="4599763" y="1686677"/>
                    <a:pt x="4598969" y="1688593"/>
                    <a:pt x="4597556" y="1690007"/>
                  </a:cubicBezTo>
                  <a:cubicBezTo>
                    <a:pt x="4596143" y="1691420"/>
                    <a:pt x="4594226" y="1692214"/>
                    <a:pt x="4592227" y="1692214"/>
                  </a:cubicBezTo>
                  <a:lnTo>
                    <a:pt x="7536" y="1692214"/>
                  </a:lnTo>
                  <a:cubicBezTo>
                    <a:pt x="5537" y="1692214"/>
                    <a:pt x="3620" y="1691420"/>
                    <a:pt x="2207" y="1690007"/>
                  </a:cubicBezTo>
                  <a:cubicBezTo>
                    <a:pt x="794" y="1688593"/>
                    <a:pt x="0" y="1686677"/>
                    <a:pt x="0" y="1684678"/>
                  </a:cubicBezTo>
                  <a:lnTo>
                    <a:pt x="0" y="7536"/>
                  </a:lnTo>
                  <a:cubicBezTo>
                    <a:pt x="0" y="5537"/>
                    <a:pt x="794" y="3620"/>
                    <a:pt x="2207" y="2207"/>
                  </a:cubicBezTo>
                  <a:cubicBezTo>
                    <a:pt x="3620" y="794"/>
                    <a:pt x="5537" y="0"/>
                    <a:pt x="753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4A99"/>
              </a:solidFill>
              <a:prstDash val="lgDash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599763" cy="1730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CEA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2457450"/>
            <a:chOff x="0" y="0"/>
            <a:chExt cx="4816593" cy="6472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647230"/>
            </a:xfrm>
            <a:custGeom>
              <a:avLst/>
              <a:gdLst/>
              <a:ahLst/>
              <a:cxnLst/>
              <a:rect l="l" t="t" r="r" b="b"/>
              <a:pathLst>
                <a:path w="4816592" h="647230">
                  <a:moveTo>
                    <a:pt x="0" y="0"/>
                  </a:moveTo>
                  <a:lnTo>
                    <a:pt x="4816592" y="0"/>
                  </a:lnTo>
                  <a:lnTo>
                    <a:pt x="4816592" y="647230"/>
                  </a:lnTo>
                  <a:lnTo>
                    <a:pt x="0" y="647230"/>
                  </a:lnTo>
                  <a:close/>
                </a:path>
              </a:pathLst>
            </a:custGeom>
            <a:solidFill>
              <a:srgbClr val="C1C1C1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6853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526247" y="2786281"/>
            <a:ext cx="5448300" cy="6267450"/>
            <a:chOff x="0" y="0"/>
            <a:chExt cx="715512" cy="8230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15512" cy="823089"/>
            </a:xfrm>
            <a:custGeom>
              <a:avLst/>
              <a:gdLst/>
              <a:ahLst/>
              <a:cxnLst/>
              <a:rect l="l" t="t" r="r" b="b"/>
              <a:pathLst>
                <a:path w="715512" h="823089">
                  <a:moveTo>
                    <a:pt x="28420" y="0"/>
                  </a:moveTo>
                  <a:lnTo>
                    <a:pt x="687092" y="0"/>
                  </a:lnTo>
                  <a:cubicBezTo>
                    <a:pt x="702788" y="0"/>
                    <a:pt x="715512" y="12724"/>
                    <a:pt x="715512" y="28420"/>
                  </a:cubicBezTo>
                  <a:lnTo>
                    <a:pt x="715512" y="794669"/>
                  </a:lnTo>
                  <a:cubicBezTo>
                    <a:pt x="715512" y="802206"/>
                    <a:pt x="712518" y="809435"/>
                    <a:pt x="707188" y="814765"/>
                  </a:cubicBezTo>
                  <a:cubicBezTo>
                    <a:pt x="701858" y="820095"/>
                    <a:pt x="694630" y="823089"/>
                    <a:pt x="687092" y="823089"/>
                  </a:cubicBezTo>
                  <a:lnTo>
                    <a:pt x="28420" y="823089"/>
                  </a:lnTo>
                  <a:cubicBezTo>
                    <a:pt x="12724" y="823089"/>
                    <a:pt x="0" y="810365"/>
                    <a:pt x="0" y="794669"/>
                  </a:cubicBezTo>
                  <a:lnTo>
                    <a:pt x="0" y="28420"/>
                  </a:lnTo>
                  <a:cubicBezTo>
                    <a:pt x="0" y="12724"/>
                    <a:pt x="12724" y="0"/>
                    <a:pt x="28420" y="0"/>
                  </a:cubicBezTo>
                  <a:close/>
                </a:path>
              </a:pathLst>
            </a:custGeom>
            <a:blipFill>
              <a:blip r:embed="rId2"/>
              <a:stretch>
                <a:fillRect t="-103" b="-103"/>
              </a:stretch>
            </a:blipFill>
          </p:spPr>
        </p:sp>
      </p:grpSp>
      <p:sp>
        <p:nvSpPr>
          <p:cNvPr id="7" name="TextBox 7"/>
          <p:cNvSpPr txBox="1"/>
          <p:nvPr/>
        </p:nvSpPr>
        <p:spPr>
          <a:xfrm>
            <a:off x="666750" y="657225"/>
            <a:ext cx="16954500" cy="1222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</a:pPr>
            <a:r>
              <a:rPr lang="en-US" sz="8000" spc="-240">
                <a:solidFill>
                  <a:srgbClr val="004A99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Scope of The Project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0" y="2984500"/>
            <a:ext cx="12172950" cy="56312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68620" lvl="1" indent="-384310" algn="ctr">
              <a:lnSpc>
                <a:spcPts val="4984"/>
              </a:lnSpc>
              <a:buFont typeface="Arial"/>
              <a:buChar char="•"/>
            </a:pPr>
            <a:r>
              <a:rPr lang="en-US" sz="356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Simulates essential ATM functions for everyday banking</a:t>
            </a:r>
          </a:p>
          <a:p>
            <a:pPr marL="768620" lvl="1" indent="-384310" algn="ctr">
              <a:lnSpc>
                <a:spcPts val="4984"/>
              </a:lnSpc>
              <a:buFont typeface="Arial"/>
              <a:buChar char="•"/>
            </a:pPr>
            <a:r>
              <a:rPr lang="en-US" sz="356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Allows secure login using a PIN with limited attempts</a:t>
            </a:r>
          </a:p>
          <a:p>
            <a:pPr marL="768620" lvl="1" indent="-384310" algn="ctr">
              <a:lnSpc>
                <a:spcPts val="4984"/>
              </a:lnSpc>
              <a:buFont typeface="Arial"/>
              <a:buChar char="•"/>
            </a:pPr>
            <a:r>
              <a:rPr lang="en-US" sz="356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Supports balance check,deposit,withdrawal,PIN change,name update and reset account</a:t>
            </a:r>
          </a:p>
          <a:p>
            <a:pPr marL="768620" lvl="1" indent="-384310" algn="ctr">
              <a:lnSpc>
                <a:spcPts val="4984"/>
              </a:lnSpc>
              <a:buFont typeface="Arial"/>
              <a:buChar char="•"/>
            </a:pPr>
            <a:r>
              <a:rPr lang="en-US" sz="356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Provides a mini transaction feature </a:t>
            </a:r>
          </a:p>
          <a:p>
            <a:pPr marL="768620" lvl="1" indent="-384310" algn="ctr">
              <a:lnSpc>
                <a:spcPts val="4984"/>
              </a:lnSpc>
              <a:buFont typeface="Arial"/>
              <a:buChar char="•"/>
            </a:pPr>
            <a:r>
              <a:rPr lang="en-US" sz="356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Maintains data using file handling for storage</a:t>
            </a:r>
          </a:p>
          <a:p>
            <a:pPr marL="768620" lvl="1" indent="-384310" algn="ctr">
              <a:lnSpc>
                <a:spcPts val="4984"/>
              </a:lnSpc>
              <a:buFont typeface="Arial"/>
              <a:buChar char="•"/>
            </a:pPr>
            <a:r>
              <a:rPr lang="en-US" sz="356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Focusses on reusability of functions and understanding C programming concepts taught to us</a:t>
            </a:r>
          </a:p>
          <a:p>
            <a:pPr algn="ctr">
              <a:lnSpc>
                <a:spcPts val="4984"/>
              </a:lnSpc>
            </a:pPr>
            <a:endParaRPr lang="en-US" sz="3560">
              <a:solidFill>
                <a:srgbClr val="004A99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grpSp>
        <p:nvGrpSpPr>
          <p:cNvPr id="9" name="Group 9"/>
          <p:cNvGrpSpPr/>
          <p:nvPr/>
        </p:nvGrpSpPr>
        <p:grpSpPr>
          <a:xfrm>
            <a:off x="287056" y="2869061"/>
            <a:ext cx="11885894" cy="6101891"/>
            <a:chOff x="0" y="0"/>
            <a:chExt cx="3130441" cy="160708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130441" cy="1607082"/>
            </a:xfrm>
            <a:custGeom>
              <a:avLst/>
              <a:gdLst/>
              <a:ahLst/>
              <a:cxnLst/>
              <a:rect l="l" t="t" r="r" b="b"/>
              <a:pathLst>
                <a:path w="3130441" h="1607082">
                  <a:moveTo>
                    <a:pt x="3257" y="0"/>
                  </a:moveTo>
                  <a:lnTo>
                    <a:pt x="3127185" y="0"/>
                  </a:lnTo>
                  <a:cubicBezTo>
                    <a:pt x="3128048" y="0"/>
                    <a:pt x="3128877" y="343"/>
                    <a:pt x="3129487" y="954"/>
                  </a:cubicBezTo>
                  <a:cubicBezTo>
                    <a:pt x="3130098" y="1565"/>
                    <a:pt x="3130441" y="2393"/>
                    <a:pt x="3130441" y="3257"/>
                  </a:cubicBezTo>
                  <a:lnTo>
                    <a:pt x="3130441" y="1603825"/>
                  </a:lnTo>
                  <a:cubicBezTo>
                    <a:pt x="3130441" y="1605624"/>
                    <a:pt x="3128983" y="1607082"/>
                    <a:pt x="3127185" y="1607082"/>
                  </a:cubicBezTo>
                  <a:lnTo>
                    <a:pt x="3257" y="1607082"/>
                  </a:lnTo>
                  <a:cubicBezTo>
                    <a:pt x="2393" y="1607082"/>
                    <a:pt x="1565" y="1606739"/>
                    <a:pt x="954" y="1606128"/>
                  </a:cubicBezTo>
                  <a:cubicBezTo>
                    <a:pt x="343" y="1605518"/>
                    <a:pt x="0" y="1604689"/>
                    <a:pt x="0" y="1603825"/>
                  </a:cubicBezTo>
                  <a:lnTo>
                    <a:pt x="0" y="3257"/>
                  </a:lnTo>
                  <a:cubicBezTo>
                    <a:pt x="0" y="2393"/>
                    <a:pt x="343" y="1565"/>
                    <a:pt x="954" y="954"/>
                  </a:cubicBezTo>
                  <a:cubicBezTo>
                    <a:pt x="1565" y="343"/>
                    <a:pt x="2393" y="0"/>
                    <a:pt x="325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4AAD"/>
              </a:solidFill>
              <a:prstDash val="lgDash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3130441" cy="16451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C5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2457450"/>
            <a:chOff x="0" y="0"/>
            <a:chExt cx="4816593" cy="6472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647230"/>
            </a:xfrm>
            <a:custGeom>
              <a:avLst/>
              <a:gdLst/>
              <a:ahLst/>
              <a:cxnLst/>
              <a:rect l="l" t="t" r="r" b="b"/>
              <a:pathLst>
                <a:path w="4816592" h="647230">
                  <a:moveTo>
                    <a:pt x="0" y="0"/>
                  </a:moveTo>
                  <a:lnTo>
                    <a:pt x="4816592" y="0"/>
                  </a:lnTo>
                  <a:lnTo>
                    <a:pt x="4816592" y="647230"/>
                  </a:lnTo>
                  <a:lnTo>
                    <a:pt x="0" y="647230"/>
                  </a:lnTo>
                  <a:close/>
                </a:path>
              </a:pathLst>
            </a:custGeom>
            <a:solidFill>
              <a:srgbClr val="C1C1C1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6853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508235" y="1638300"/>
            <a:ext cx="3756901" cy="6267450"/>
            <a:chOff x="0" y="0"/>
            <a:chExt cx="493385" cy="8230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3385" cy="823089"/>
            </a:xfrm>
            <a:custGeom>
              <a:avLst/>
              <a:gdLst/>
              <a:ahLst/>
              <a:cxnLst/>
              <a:rect l="l" t="t" r="r" b="b"/>
              <a:pathLst>
                <a:path w="493385" h="823089">
                  <a:moveTo>
                    <a:pt x="41214" y="0"/>
                  </a:moveTo>
                  <a:lnTo>
                    <a:pt x="452170" y="0"/>
                  </a:lnTo>
                  <a:cubicBezTo>
                    <a:pt x="474932" y="0"/>
                    <a:pt x="493385" y="18452"/>
                    <a:pt x="493385" y="41214"/>
                  </a:cubicBezTo>
                  <a:lnTo>
                    <a:pt x="493385" y="781874"/>
                  </a:lnTo>
                  <a:cubicBezTo>
                    <a:pt x="493385" y="804636"/>
                    <a:pt x="474932" y="823089"/>
                    <a:pt x="452170" y="823089"/>
                  </a:cubicBezTo>
                  <a:lnTo>
                    <a:pt x="41214" y="823089"/>
                  </a:lnTo>
                  <a:cubicBezTo>
                    <a:pt x="18452" y="823089"/>
                    <a:pt x="0" y="804636"/>
                    <a:pt x="0" y="781874"/>
                  </a:cubicBezTo>
                  <a:lnTo>
                    <a:pt x="0" y="41214"/>
                  </a:lnTo>
                  <a:cubicBezTo>
                    <a:pt x="0" y="18452"/>
                    <a:pt x="18452" y="0"/>
                    <a:pt x="41214" y="0"/>
                  </a:cubicBezTo>
                  <a:close/>
                </a:path>
              </a:pathLst>
            </a:custGeom>
            <a:blipFill>
              <a:blip r:embed="rId2"/>
              <a:stretch>
                <a:fillRect l="-100632" r="-100632"/>
              </a:stretch>
            </a:blipFill>
          </p:spPr>
        </p:sp>
      </p:grpSp>
      <p:sp>
        <p:nvSpPr>
          <p:cNvPr id="7" name="TextBox 7"/>
          <p:cNvSpPr txBox="1"/>
          <p:nvPr/>
        </p:nvSpPr>
        <p:spPr>
          <a:xfrm>
            <a:off x="666750" y="657225"/>
            <a:ext cx="16954500" cy="1222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</a:pPr>
            <a:r>
              <a:rPr lang="en-US" sz="8000" u="sng" spc="-240">
                <a:solidFill>
                  <a:srgbClr val="004A99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Major Functions Used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0" y="3802807"/>
            <a:ext cx="17873782" cy="55499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2" lvl="1" indent="-377821" algn="just">
              <a:lnSpc>
                <a:spcPts val="4899"/>
              </a:lnSpc>
              <a:buFont typeface="Arial"/>
              <a:buChar char="•"/>
            </a:pPr>
            <a:r>
              <a:rPr lang="en-US" sz="3499" dirty="0" err="1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checkBalance</a:t>
            </a:r>
            <a:r>
              <a:rPr lang="en-US" sz="3499" dirty="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()-displays current account balance</a:t>
            </a:r>
          </a:p>
          <a:p>
            <a:pPr marL="755642" lvl="1" indent="-377821" algn="just">
              <a:lnSpc>
                <a:spcPts val="4899"/>
              </a:lnSpc>
              <a:buFont typeface="Arial"/>
              <a:buChar char="•"/>
            </a:pPr>
            <a:r>
              <a:rPr lang="en-US" sz="3499" dirty="0" err="1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depositMoney</a:t>
            </a:r>
            <a:r>
              <a:rPr lang="en-US" sz="3499" dirty="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() -adds money to balance and updates history</a:t>
            </a:r>
          </a:p>
          <a:p>
            <a:pPr marL="755642" lvl="1" indent="-377821" algn="just">
              <a:lnSpc>
                <a:spcPts val="4899"/>
              </a:lnSpc>
              <a:buFont typeface="Arial"/>
              <a:buChar char="•"/>
            </a:pPr>
            <a:r>
              <a:rPr lang="en-US" sz="3499" dirty="0" err="1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withdrawMoney</a:t>
            </a:r>
            <a:r>
              <a:rPr lang="en-US" sz="3499" dirty="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()-it deducts the amount and checks sufficient balance</a:t>
            </a:r>
          </a:p>
          <a:p>
            <a:pPr marL="755642" lvl="1" indent="-377821" algn="just">
              <a:lnSpc>
                <a:spcPts val="4899"/>
              </a:lnSpc>
              <a:buFont typeface="Arial"/>
              <a:buChar char="•"/>
            </a:pPr>
            <a:r>
              <a:rPr lang="en-US" sz="3499" dirty="0" err="1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changePin</a:t>
            </a:r>
            <a:r>
              <a:rPr lang="en-US" sz="3499" dirty="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()-updates PIN with confirmation</a:t>
            </a:r>
          </a:p>
          <a:p>
            <a:pPr marL="755642" lvl="1" indent="-377821" algn="just">
              <a:lnSpc>
                <a:spcPts val="4899"/>
              </a:lnSpc>
              <a:buFont typeface="Arial"/>
              <a:buChar char="•"/>
            </a:pPr>
            <a:r>
              <a:rPr lang="en-US" sz="3499" dirty="0" err="1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changeName</a:t>
            </a:r>
            <a:r>
              <a:rPr lang="en-US" sz="3499" dirty="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()-used to update account holder’s name</a:t>
            </a:r>
          </a:p>
          <a:p>
            <a:pPr marL="755642" lvl="1" indent="-377821" algn="just">
              <a:lnSpc>
                <a:spcPts val="4899"/>
              </a:lnSpc>
              <a:buFont typeface="Arial"/>
              <a:buChar char="•"/>
            </a:pPr>
            <a:r>
              <a:rPr lang="en-US" sz="3499" dirty="0" err="1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showHistory</a:t>
            </a:r>
            <a:r>
              <a:rPr lang="en-US" sz="3499" dirty="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()-to show mini transaction history</a:t>
            </a:r>
          </a:p>
          <a:p>
            <a:pPr marL="755642" lvl="1" indent="-377821" algn="just">
              <a:lnSpc>
                <a:spcPts val="4899"/>
              </a:lnSpc>
              <a:buFont typeface="Arial"/>
              <a:buChar char="•"/>
            </a:pPr>
            <a:r>
              <a:rPr lang="en-US" sz="3499" dirty="0" err="1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saveToFile</a:t>
            </a:r>
            <a:r>
              <a:rPr lang="en-US" sz="3499" dirty="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()-to save account data permanently to account.txt file</a:t>
            </a:r>
          </a:p>
          <a:p>
            <a:pPr marL="755642" lvl="1" indent="-377821" algn="just">
              <a:lnSpc>
                <a:spcPts val="4899"/>
              </a:lnSpc>
              <a:buFont typeface="Arial"/>
              <a:buChar char="•"/>
            </a:pPr>
            <a:r>
              <a:rPr lang="en-US" sz="3499" dirty="0" err="1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loadFromFile</a:t>
            </a:r>
            <a:r>
              <a:rPr lang="en-US" sz="3499" dirty="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()- to load the saved data and if not present it loads default values</a:t>
            </a:r>
          </a:p>
          <a:p>
            <a:pPr marL="755642" lvl="1" indent="-377821" algn="just">
              <a:lnSpc>
                <a:spcPts val="4899"/>
              </a:lnSpc>
              <a:buFont typeface="Arial"/>
              <a:buChar char="•"/>
            </a:pPr>
            <a:r>
              <a:rPr lang="en-US" sz="3499" dirty="0" err="1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resetAccount</a:t>
            </a:r>
            <a:r>
              <a:rPr lang="en-US" sz="3499" dirty="0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()-clears data of account.txt &amp; deletes all transactions and resets to default </a:t>
            </a:r>
          </a:p>
        </p:txBody>
      </p:sp>
      <p:sp>
        <p:nvSpPr>
          <p:cNvPr id="9" name="AutoShape 9"/>
          <p:cNvSpPr/>
          <p:nvPr/>
        </p:nvSpPr>
        <p:spPr>
          <a:xfrm>
            <a:off x="0" y="2457450"/>
            <a:ext cx="14282286" cy="0"/>
          </a:xfrm>
          <a:prstGeom prst="line">
            <a:avLst/>
          </a:prstGeom>
          <a:ln w="38100" cap="flat">
            <a:solidFill>
              <a:srgbClr val="004A99"/>
            </a:solidFill>
            <a:prstDash val="lgDash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CEA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200025"/>
            <a:ext cx="18288000" cy="2457450"/>
            <a:chOff x="0" y="0"/>
            <a:chExt cx="4816593" cy="6472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647230"/>
            </a:xfrm>
            <a:custGeom>
              <a:avLst/>
              <a:gdLst/>
              <a:ahLst/>
              <a:cxnLst/>
              <a:rect l="l" t="t" r="r" b="b"/>
              <a:pathLst>
                <a:path w="4816592" h="647230">
                  <a:moveTo>
                    <a:pt x="0" y="0"/>
                  </a:moveTo>
                  <a:lnTo>
                    <a:pt x="4816592" y="0"/>
                  </a:lnTo>
                  <a:lnTo>
                    <a:pt x="4816592" y="647230"/>
                  </a:lnTo>
                  <a:lnTo>
                    <a:pt x="0" y="647230"/>
                  </a:lnTo>
                  <a:close/>
                </a:path>
              </a:pathLst>
            </a:custGeom>
            <a:solidFill>
              <a:srgbClr val="C1C1C1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6853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783504"/>
            <a:ext cx="16954500" cy="1069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</a:pPr>
            <a:r>
              <a:rPr lang="en-US" sz="8000" spc="-240">
                <a:solidFill>
                  <a:srgbClr val="004A99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 short Flowchart of main( )  function 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028700" y="496597"/>
            <a:ext cx="14960923" cy="1305316"/>
            <a:chOff x="0" y="0"/>
            <a:chExt cx="3940325" cy="34378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940325" cy="343787"/>
            </a:xfrm>
            <a:custGeom>
              <a:avLst/>
              <a:gdLst/>
              <a:ahLst/>
              <a:cxnLst/>
              <a:rect l="l" t="t" r="r" b="b"/>
              <a:pathLst>
                <a:path w="3940325" h="343787">
                  <a:moveTo>
                    <a:pt x="8797" y="0"/>
                  </a:moveTo>
                  <a:lnTo>
                    <a:pt x="3931528" y="0"/>
                  </a:lnTo>
                  <a:cubicBezTo>
                    <a:pt x="3933861" y="0"/>
                    <a:pt x="3936099" y="927"/>
                    <a:pt x="3937749" y="2577"/>
                  </a:cubicBezTo>
                  <a:cubicBezTo>
                    <a:pt x="3939399" y="4226"/>
                    <a:pt x="3940325" y="6464"/>
                    <a:pt x="3940325" y="8797"/>
                  </a:cubicBezTo>
                  <a:lnTo>
                    <a:pt x="3940325" y="334990"/>
                  </a:lnTo>
                  <a:cubicBezTo>
                    <a:pt x="3940325" y="337323"/>
                    <a:pt x="3939399" y="339561"/>
                    <a:pt x="3937749" y="341210"/>
                  </a:cubicBezTo>
                  <a:cubicBezTo>
                    <a:pt x="3936099" y="342860"/>
                    <a:pt x="3933861" y="343787"/>
                    <a:pt x="3931528" y="343787"/>
                  </a:cubicBezTo>
                  <a:lnTo>
                    <a:pt x="8797" y="343787"/>
                  </a:lnTo>
                  <a:cubicBezTo>
                    <a:pt x="3939" y="343787"/>
                    <a:pt x="0" y="339848"/>
                    <a:pt x="0" y="334990"/>
                  </a:cubicBezTo>
                  <a:lnTo>
                    <a:pt x="0" y="8797"/>
                  </a:lnTo>
                  <a:cubicBezTo>
                    <a:pt x="0" y="6464"/>
                    <a:pt x="927" y="4226"/>
                    <a:pt x="2577" y="2577"/>
                  </a:cubicBezTo>
                  <a:cubicBezTo>
                    <a:pt x="4226" y="927"/>
                    <a:pt x="6464" y="0"/>
                    <a:pt x="879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4AAD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940325" cy="3818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3929442" y="1801914"/>
            <a:ext cx="3803094" cy="5220284"/>
          </a:xfrm>
          <a:custGeom>
            <a:avLst/>
            <a:gdLst/>
            <a:ahLst/>
            <a:cxnLst/>
            <a:rect l="l" t="t" r="r" b="b"/>
            <a:pathLst>
              <a:path w="3803094" h="5220284">
                <a:moveTo>
                  <a:pt x="0" y="0"/>
                </a:moveTo>
                <a:lnTo>
                  <a:pt x="3803094" y="0"/>
                </a:lnTo>
                <a:lnTo>
                  <a:pt x="3803094" y="5220284"/>
                </a:lnTo>
                <a:lnTo>
                  <a:pt x="0" y="52202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3534915" y="2257425"/>
            <a:ext cx="6464770" cy="8029575"/>
          </a:xfrm>
          <a:custGeom>
            <a:avLst/>
            <a:gdLst/>
            <a:ahLst/>
            <a:cxnLst/>
            <a:rect l="l" t="t" r="r" b="b"/>
            <a:pathLst>
              <a:path w="6464770" h="8029575">
                <a:moveTo>
                  <a:pt x="0" y="0"/>
                </a:moveTo>
                <a:lnTo>
                  <a:pt x="6464770" y="0"/>
                </a:lnTo>
                <a:lnTo>
                  <a:pt x="6464770" y="8029575"/>
                </a:lnTo>
                <a:lnTo>
                  <a:pt x="0" y="80295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3306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28156"/>
            <a:chOff x="0" y="0"/>
            <a:chExt cx="4816593" cy="4288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28815"/>
            </a:xfrm>
            <a:custGeom>
              <a:avLst/>
              <a:gdLst/>
              <a:ahLst/>
              <a:cxnLst/>
              <a:rect l="l" t="t" r="r" b="b"/>
              <a:pathLst>
                <a:path w="4816592" h="428815">
                  <a:moveTo>
                    <a:pt x="0" y="0"/>
                  </a:moveTo>
                  <a:lnTo>
                    <a:pt x="4816592" y="0"/>
                  </a:lnTo>
                  <a:lnTo>
                    <a:pt x="4816592" y="428815"/>
                  </a:lnTo>
                  <a:lnTo>
                    <a:pt x="0" y="428815"/>
                  </a:lnTo>
                  <a:close/>
                </a:path>
              </a:pathLst>
            </a:custGeom>
            <a:solidFill>
              <a:srgbClr val="C1C1C1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4669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66750" y="657225"/>
            <a:ext cx="16954500" cy="1222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</a:pPr>
            <a:r>
              <a:rPr lang="en-US" sz="8000" spc="-240">
                <a:solidFill>
                  <a:srgbClr val="004A99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2705100"/>
            <a:ext cx="15087600" cy="5943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80939"/>
              </p:ext>
            </p:extLst>
          </p:nvPr>
        </p:nvGraphicFramePr>
        <p:xfrm>
          <a:off x="1905000" y="2095504"/>
          <a:ext cx="14554200" cy="78217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170280"/>
                <a:gridCol w="3005944"/>
                <a:gridCol w="3666179"/>
                <a:gridCol w="2867801"/>
                <a:gridCol w="1843996"/>
              </a:tblGrid>
              <a:tr h="25322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 dirty="0">
                          <a:effectLst/>
                        </a:rPr>
                        <a:t>Test Case</a:t>
                      </a:r>
                      <a:endParaRPr lang="en-IN" sz="1800" dirty="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What I tested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What I expected to Happen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What Actually Happened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Result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25322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1.Correct PIN Entry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PIN=correct    value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Login successful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Login successful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466999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 dirty="0">
                          <a:effectLst/>
                        </a:rPr>
                        <a:t>2.Incorrect PIN Entry</a:t>
                      </a:r>
                      <a:endParaRPr lang="en-IN" sz="1800" dirty="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PIN=wrong value</a:t>
                      </a:r>
                      <a:endParaRPr lang="en-IN" sz="1800">
                        <a:effectLst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(3 times)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Access Denied after 3 attempts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Access denied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466999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3.Deposit Valid Amount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Deposit=500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Balance increases by 500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Balance updated correctly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25322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4. Deposit Invalid Amount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Deposit=-50 or 0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Show error message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 dirty="0">
                          <a:effectLst/>
                        </a:rPr>
                        <a:t>Error shown</a:t>
                      </a:r>
                      <a:endParaRPr lang="en-IN" sz="1800" dirty="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700499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5.Withdraw Valid amount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Withdraw=</a:t>
                      </a:r>
                      <a:endParaRPr lang="en-IN" sz="1800">
                        <a:effectLst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amount&lt;=</a:t>
                      </a:r>
                      <a:endParaRPr lang="en-IN" sz="1800">
                        <a:effectLst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balance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Balance reduced correctly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Works as expected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700499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6.Withdraw More than Balance</a:t>
                      </a:r>
                      <a:endParaRPr lang="en-IN" sz="18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Withdraw&gt;</a:t>
                      </a:r>
                      <a:endParaRPr lang="en-IN" sz="18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balance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Show insufficient balance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Error Shown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25322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7.Check Balance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Select balance option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Display current balance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Balance displayed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25322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8.Change PIN(valid)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Enter new Valid PIN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PIN updated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 dirty="0">
                          <a:effectLst/>
                        </a:rPr>
                        <a:t>PIN updated</a:t>
                      </a:r>
                      <a:endParaRPr lang="en-IN" sz="1800" dirty="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700499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9.Change PIN (invalid)</a:t>
                      </a:r>
                      <a:endParaRPr lang="en-IN" sz="18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IN" sz="18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Entering mismatched pin in retyping pin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 dirty="0">
                          <a:effectLst/>
                        </a:rPr>
                        <a:t>Should show error</a:t>
                      </a:r>
                      <a:endParaRPr lang="en-IN" sz="1800" dirty="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Error message shown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25322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10.Save Data to file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Select save option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File should be created/updated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File saved successfully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25322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11.Load Data from file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Select Load option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Data should load correctly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Data loaded successfully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466999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12.Mini Transaction History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Performing few operations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Should show last few transactions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Correct list displayed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700499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13.Change account holder name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Entering a new valid name 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Should update the name when a valid name is entered and save to file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Name updated to new name and saved in account.txt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Pass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25322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14.Reset Account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Select Reset option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Balance and PIN reset to default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Reset successful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 dirty="0">
                          <a:effectLst/>
                        </a:rPr>
                        <a:t>Pass</a:t>
                      </a:r>
                      <a:endParaRPr lang="en-IN" sz="1800" dirty="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  <a:tr h="93399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15.Exit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Selecting exit option from main menu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>
                          <a:effectLst/>
                        </a:rPr>
                        <a:t>Program shouls terminate gracefully with a thank you message</a:t>
                      </a:r>
                      <a:endParaRPr lang="en-IN" sz="180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 dirty="0">
                          <a:effectLst/>
                        </a:rPr>
                        <a:t>Program exited successfully and displayed expected message</a:t>
                      </a:r>
                      <a:endParaRPr lang="en-IN" sz="1800" dirty="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</a:tabLst>
                      </a:pPr>
                      <a:r>
                        <a:rPr lang="en-US" sz="1800" dirty="0">
                          <a:effectLst/>
                        </a:rPr>
                        <a:t>Pass</a:t>
                      </a:r>
                      <a:endParaRPr lang="en-IN" sz="1800" dirty="0">
                        <a:effectLst/>
                        <a:latin typeface="Calibri"/>
                        <a:ea typeface="Calibri"/>
                        <a:cs typeface="Mangal"/>
                      </a:endParaRPr>
                    </a:p>
                  </a:txBody>
                  <a:tcPr marL="18752" marR="18752" marT="0" marB="0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C5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095846"/>
            <a:ext cx="1848686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TextBox 3"/>
          <p:cNvSpPr txBox="1"/>
          <p:nvPr/>
        </p:nvSpPr>
        <p:spPr>
          <a:xfrm>
            <a:off x="460046" y="2654851"/>
            <a:ext cx="16799254" cy="62955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76"/>
              </a:lnSpc>
              <a:spcBef>
                <a:spcPct val="0"/>
              </a:spcBef>
            </a:pPr>
            <a:r>
              <a:rPr lang="en-US" sz="376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Test case-1 screenshot : Correct PIN Entry</a:t>
            </a:r>
          </a:p>
          <a:p>
            <a:pPr algn="ctr">
              <a:lnSpc>
                <a:spcPts val="5276"/>
              </a:lnSpc>
              <a:spcBef>
                <a:spcPct val="0"/>
              </a:spcBef>
            </a:pPr>
            <a:endParaRPr lang="en-US" sz="376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2616"/>
              </a:lnSpc>
              <a:spcBef>
                <a:spcPct val="0"/>
              </a:spcBef>
            </a:pPr>
            <a:endParaRPr lang="en-US" sz="376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76"/>
              </a:lnSpc>
              <a:spcBef>
                <a:spcPct val="0"/>
              </a:spcBef>
            </a:pPr>
            <a:endParaRPr lang="en-US" sz="376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76"/>
              </a:lnSpc>
              <a:spcBef>
                <a:spcPct val="0"/>
              </a:spcBef>
            </a:pPr>
            <a:endParaRPr lang="en-US" sz="376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76"/>
              </a:lnSpc>
              <a:spcBef>
                <a:spcPct val="0"/>
              </a:spcBef>
            </a:pPr>
            <a:endParaRPr lang="en-US" sz="376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76"/>
              </a:lnSpc>
              <a:spcBef>
                <a:spcPct val="0"/>
              </a:spcBef>
            </a:pPr>
            <a:r>
              <a:rPr lang="en-US" sz="376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  <a:p>
            <a:pPr algn="ctr">
              <a:lnSpc>
                <a:spcPts val="5276"/>
              </a:lnSpc>
              <a:spcBef>
                <a:spcPct val="0"/>
              </a:spcBef>
            </a:pPr>
            <a:r>
              <a:rPr lang="en-US" sz="376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  <a:p>
            <a:pPr algn="ctr">
              <a:lnSpc>
                <a:spcPts val="5276"/>
              </a:lnSpc>
              <a:spcBef>
                <a:spcPct val="0"/>
              </a:spcBef>
            </a:pPr>
            <a:r>
              <a:rPr lang="en-US" sz="376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Explanation: The user entered the correct PIN .The system verified it successfully and displayed the welcome message along with account details.</a:t>
            </a:r>
          </a:p>
        </p:txBody>
      </p:sp>
      <p:sp>
        <p:nvSpPr>
          <p:cNvPr id="4" name="Freeform 4"/>
          <p:cNvSpPr/>
          <p:nvPr/>
        </p:nvSpPr>
        <p:spPr>
          <a:xfrm>
            <a:off x="2470941" y="3558631"/>
            <a:ext cx="8766733" cy="3428387"/>
          </a:xfrm>
          <a:custGeom>
            <a:avLst/>
            <a:gdLst/>
            <a:ahLst/>
            <a:cxnLst/>
            <a:rect l="l" t="t" r="r" b="b"/>
            <a:pathLst>
              <a:path w="8766733" h="3428387">
                <a:moveTo>
                  <a:pt x="0" y="0"/>
                </a:moveTo>
                <a:lnTo>
                  <a:pt x="8766733" y="0"/>
                </a:lnTo>
                <a:lnTo>
                  <a:pt x="8766733" y="3428387"/>
                </a:lnTo>
                <a:lnTo>
                  <a:pt x="0" y="34283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7649" r="-48500" b="-6237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0" y="653844"/>
            <a:ext cx="14939445" cy="979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51"/>
              </a:lnSpc>
              <a:spcBef>
                <a:spcPct val="0"/>
              </a:spcBef>
            </a:pPr>
            <a:r>
              <a:rPr lang="en-US" sz="56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Some screenshots of the outputs (1)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C5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095846"/>
            <a:ext cx="1848686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TextBox 3"/>
          <p:cNvSpPr txBox="1"/>
          <p:nvPr/>
        </p:nvSpPr>
        <p:spPr>
          <a:xfrm>
            <a:off x="460046" y="2740516"/>
            <a:ext cx="16799254" cy="6638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76"/>
              </a:lnSpc>
              <a:spcBef>
                <a:spcPct val="0"/>
              </a:spcBef>
            </a:pPr>
            <a:r>
              <a:rPr lang="en-US" sz="376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Test case-2 screenshot : Incorrect PIN Entry</a:t>
            </a:r>
          </a:p>
          <a:p>
            <a:pPr algn="ctr">
              <a:lnSpc>
                <a:spcPts val="5276"/>
              </a:lnSpc>
              <a:spcBef>
                <a:spcPct val="0"/>
              </a:spcBef>
            </a:pPr>
            <a:endParaRPr lang="en-US" sz="376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76"/>
              </a:lnSpc>
              <a:spcBef>
                <a:spcPct val="0"/>
              </a:spcBef>
            </a:pPr>
            <a:endParaRPr lang="en-US" sz="376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76"/>
              </a:lnSpc>
              <a:spcBef>
                <a:spcPct val="0"/>
              </a:spcBef>
            </a:pPr>
            <a:endParaRPr lang="en-US" sz="376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76"/>
              </a:lnSpc>
              <a:spcBef>
                <a:spcPct val="0"/>
              </a:spcBef>
            </a:pPr>
            <a:endParaRPr lang="en-US" sz="376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76"/>
              </a:lnSpc>
              <a:spcBef>
                <a:spcPct val="0"/>
              </a:spcBef>
            </a:pPr>
            <a:endParaRPr lang="en-US" sz="376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76"/>
              </a:lnSpc>
              <a:spcBef>
                <a:spcPct val="0"/>
              </a:spcBef>
            </a:pPr>
            <a:endParaRPr lang="en-US" sz="376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76"/>
              </a:lnSpc>
              <a:spcBef>
                <a:spcPct val="0"/>
              </a:spcBef>
            </a:pPr>
            <a:r>
              <a:rPr lang="en-US" sz="376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Explanation: The user entered an incorrect PIN three times. After the third attempt,the system denied access and displayed an account lock warning.</a:t>
            </a:r>
          </a:p>
          <a:p>
            <a:pPr algn="ctr">
              <a:lnSpc>
                <a:spcPts val="5276"/>
              </a:lnSpc>
              <a:spcBef>
                <a:spcPct val="0"/>
              </a:spcBef>
            </a:pPr>
            <a:endParaRPr lang="en-US" sz="376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4976005" y="3431909"/>
            <a:ext cx="6668165" cy="4288820"/>
          </a:xfrm>
          <a:custGeom>
            <a:avLst/>
            <a:gdLst/>
            <a:ahLst/>
            <a:cxnLst/>
            <a:rect l="l" t="t" r="r" b="b"/>
            <a:pathLst>
              <a:path w="6668165" h="4288820">
                <a:moveTo>
                  <a:pt x="0" y="0"/>
                </a:moveTo>
                <a:lnTo>
                  <a:pt x="6668166" y="0"/>
                </a:lnTo>
                <a:lnTo>
                  <a:pt x="6668166" y="4288820"/>
                </a:lnTo>
                <a:lnTo>
                  <a:pt x="0" y="42888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0" y="653844"/>
            <a:ext cx="14939445" cy="979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51"/>
              </a:lnSpc>
              <a:spcBef>
                <a:spcPct val="0"/>
              </a:spcBef>
            </a:pPr>
            <a:r>
              <a:rPr lang="en-US" sz="56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Some screenshots of the outputs (2)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C5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095846"/>
            <a:ext cx="1848686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TextBox 3"/>
          <p:cNvSpPr txBox="1"/>
          <p:nvPr/>
        </p:nvSpPr>
        <p:spPr>
          <a:xfrm>
            <a:off x="1466483" y="2307179"/>
            <a:ext cx="10961570" cy="9233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5"/>
              </a:lnSpc>
              <a:spcBef>
                <a:spcPct val="0"/>
              </a:spcBef>
            </a:pPr>
            <a:r>
              <a:rPr lang="en-US" sz="3725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Test case-5 screenshot : Withdraw Valid amount</a:t>
            </a: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r>
              <a:rPr lang="en-US" sz="3725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Explanation:The user a valid amount within the available balance.The balance decreased accordingly and a receipt was optionally displayed.</a:t>
            </a: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080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12757714" y="1786892"/>
            <a:ext cx="5153364" cy="8500108"/>
          </a:xfrm>
          <a:custGeom>
            <a:avLst/>
            <a:gdLst/>
            <a:ahLst/>
            <a:cxnLst/>
            <a:rect l="l" t="t" r="r" b="b"/>
            <a:pathLst>
              <a:path w="5153364" h="8500108">
                <a:moveTo>
                  <a:pt x="0" y="0"/>
                </a:moveTo>
                <a:lnTo>
                  <a:pt x="5153364" y="0"/>
                </a:lnTo>
                <a:lnTo>
                  <a:pt x="5153364" y="8500108"/>
                </a:lnTo>
                <a:lnTo>
                  <a:pt x="0" y="8500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94" r="-11141" b="-5171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0" y="653844"/>
            <a:ext cx="14939445" cy="979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51"/>
              </a:lnSpc>
              <a:spcBef>
                <a:spcPct val="0"/>
              </a:spcBef>
            </a:pPr>
            <a:r>
              <a:rPr lang="en-US" sz="56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Some screenshots of the outputs (3)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C5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095846"/>
            <a:ext cx="1848686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Freeform 3"/>
          <p:cNvSpPr/>
          <p:nvPr/>
        </p:nvSpPr>
        <p:spPr>
          <a:xfrm>
            <a:off x="11500396" y="2562571"/>
            <a:ext cx="4689119" cy="7276333"/>
          </a:xfrm>
          <a:custGeom>
            <a:avLst/>
            <a:gdLst/>
            <a:ahLst/>
            <a:cxnLst/>
            <a:rect l="l" t="t" r="r" b="b"/>
            <a:pathLst>
              <a:path w="4689119" h="7276333">
                <a:moveTo>
                  <a:pt x="0" y="0"/>
                </a:moveTo>
                <a:lnTo>
                  <a:pt x="4689119" y="0"/>
                </a:lnTo>
                <a:lnTo>
                  <a:pt x="4689119" y="7276333"/>
                </a:lnTo>
                <a:lnTo>
                  <a:pt x="0" y="72763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886" r="-1886"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466483" y="2307179"/>
            <a:ext cx="8905632" cy="7668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5"/>
              </a:lnSpc>
              <a:spcBef>
                <a:spcPct val="0"/>
              </a:spcBef>
            </a:pPr>
            <a:r>
              <a:rPr lang="en-US" sz="3725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Test case-7 screenshot : Check Balance</a:t>
            </a: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4655"/>
              </a:lnSpc>
              <a:spcBef>
                <a:spcPct val="0"/>
              </a:spcBef>
            </a:pPr>
            <a:r>
              <a:rPr lang="en-US" sz="3325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Explanation:The User selected the Check Balance option and the current was displayed correctly.</a:t>
            </a: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3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325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0" y="653844"/>
            <a:ext cx="14939445" cy="979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51"/>
              </a:lnSpc>
              <a:spcBef>
                <a:spcPct val="0"/>
              </a:spcBef>
            </a:pPr>
            <a:r>
              <a:rPr lang="en-US" sz="56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Some screenshots of the outputs (4)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C5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858125" cy="10287000"/>
            <a:chOff x="0" y="0"/>
            <a:chExt cx="1031988" cy="1350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31988" cy="1350966"/>
            </a:xfrm>
            <a:custGeom>
              <a:avLst/>
              <a:gdLst/>
              <a:ahLst/>
              <a:cxnLst/>
              <a:rect l="l" t="t" r="r" b="b"/>
              <a:pathLst>
                <a:path w="1031988" h="1350966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blipFill>
              <a:blip r:embed="rId2"/>
              <a:stretch>
                <a:fillRect l="-49258" r="-49258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9303759" y="666750"/>
            <a:ext cx="8317491" cy="1452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557"/>
              </a:lnSpc>
            </a:pPr>
            <a:r>
              <a:rPr lang="en-US" sz="9557" spc="-334">
                <a:solidFill>
                  <a:srgbClr val="004A99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Conclusion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708025" y="2420897"/>
            <a:ext cx="9311796" cy="68472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71866" lvl="1" indent="-335933" algn="ctr">
              <a:lnSpc>
                <a:spcPts val="4356"/>
              </a:lnSpc>
              <a:buFont typeface="Arial"/>
              <a:buChar char="•"/>
            </a:pPr>
            <a:r>
              <a:rPr lang="en-US" sz="3111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This ATM simulator helped me understand real-world banking systems</a:t>
            </a:r>
          </a:p>
          <a:p>
            <a:pPr marL="644643" lvl="1" indent="-322321" algn="ctr">
              <a:lnSpc>
                <a:spcPts val="4180"/>
              </a:lnSpc>
              <a:buFont typeface="Arial"/>
              <a:buChar char="•"/>
            </a:pPr>
            <a:r>
              <a:rPr lang="en-US" sz="2985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Breaking the program into reusable functions emphasized modular programming</a:t>
            </a:r>
          </a:p>
          <a:p>
            <a:pPr marL="644643" lvl="1" indent="-322321" algn="ctr">
              <a:lnSpc>
                <a:spcPts val="4180"/>
              </a:lnSpc>
              <a:buFont typeface="Arial"/>
              <a:buChar char="•"/>
            </a:pPr>
            <a:r>
              <a:rPr lang="en-US" sz="2985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 implemented features:balance check,deposit/withdrawal,PIN change,mini transcation history,file handling and reset account</a:t>
            </a:r>
          </a:p>
          <a:p>
            <a:pPr marL="644643" lvl="1" indent="-322321" algn="ctr">
              <a:lnSpc>
                <a:spcPts val="4180"/>
              </a:lnSpc>
              <a:buFont typeface="Arial"/>
              <a:buChar char="•"/>
            </a:pPr>
            <a:r>
              <a:rPr lang="en-US" sz="2985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Tried to apply all concepts</a:t>
            </a:r>
          </a:p>
          <a:p>
            <a:pPr algn="ctr">
              <a:lnSpc>
                <a:spcPts val="4180"/>
              </a:lnSpc>
            </a:pPr>
            <a:r>
              <a:rPr lang="en-US" sz="2985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taught so far </a:t>
            </a:r>
          </a:p>
          <a:p>
            <a:pPr marL="644643" lvl="1" indent="-322321" algn="ctr">
              <a:lnSpc>
                <a:spcPts val="4180"/>
              </a:lnSpc>
              <a:buFont typeface="Arial"/>
              <a:buChar char="•"/>
            </a:pPr>
            <a:r>
              <a:rPr lang="en-US" sz="2985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This project boosted my confidence and showed how programming solves real-life problems</a:t>
            </a:r>
          </a:p>
          <a:p>
            <a:pPr marL="644643" lvl="1" indent="-322321" algn="ctr">
              <a:lnSpc>
                <a:spcPts val="4180"/>
              </a:lnSpc>
              <a:buFont typeface="Arial"/>
              <a:buChar char="•"/>
            </a:pPr>
            <a:r>
              <a:rPr lang="en-US" sz="2985">
                <a:solidFill>
                  <a:srgbClr val="004A99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Thanks to our Professor Dr.Prashant Trivedi for his continuous guidance and support.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C5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644238"/>
            <a:ext cx="11802208" cy="979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51"/>
              </a:lnSpc>
              <a:spcBef>
                <a:spcPct val="0"/>
              </a:spcBef>
            </a:pPr>
            <a:r>
              <a:rPr lang="en-US" sz="56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Appendix:code of some functions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373890" y="488376"/>
            <a:ext cx="11111828" cy="1405713"/>
            <a:chOff x="0" y="0"/>
            <a:chExt cx="2926572" cy="37022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926572" cy="370229"/>
            </a:xfrm>
            <a:custGeom>
              <a:avLst/>
              <a:gdLst/>
              <a:ahLst/>
              <a:cxnLst/>
              <a:rect l="l" t="t" r="r" b="b"/>
              <a:pathLst>
                <a:path w="2926572" h="370229">
                  <a:moveTo>
                    <a:pt x="11844" y="0"/>
                  </a:moveTo>
                  <a:lnTo>
                    <a:pt x="2914728" y="0"/>
                  </a:lnTo>
                  <a:cubicBezTo>
                    <a:pt x="2921269" y="0"/>
                    <a:pt x="2926572" y="5303"/>
                    <a:pt x="2926572" y="11844"/>
                  </a:cubicBezTo>
                  <a:lnTo>
                    <a:pt x="2926572" y="358385"/>
                  </a:lnTo>
                  <a:cubicBezTo>
                    <a:pt x="2926572" y="361526"/>
                    <a:pt x="2925324" y="364539"/>
                    <a:pt x="2923103" y="366760"/>
                  </a:cubicBezTo>
                  <a:cubicBezTo>
                    <a:pt x="2920882" y="368981"/>
                    <a:pt x="2917869" y="370229"/>
                    <a:pt x="2914728" y="370229"/>
                  </a:cubicBezTo>
                  <a:lnTo>
                    <a:pt x="11844" y="370229"/>
                  </a:lnTo>
                  <a:cubicBezTo>
                    <a:pt x="8703" y="370229"/>
                    <a:pt x="5690" y="368981"/>
                    <a:pt x="3469" y="366760"/>
                  </a:cubicBezTo>
                  <a:cubicBezTo>
                    <a:pt x="1248" y="364539"/>
                    <a:pt x="0" y="361526"/>
                    <a:pt x="0" y="358385"/>
                  </a:cubicBezTo>
                  <a:lnTo>
                    <a:pt x="0" y="11844"/>
                  </a:lnTo>
                  <a:cubicBezTo>
                    <a:pt x="0" y="8703"/>
                    <a:pt x="1248" y="5690"/>
                    <a:pt x="3469" y="3469"/>
                  </a:cubicBezTo>
                  <a:cubicBezTo>
                    <a:pt x="5690" y="1248"/>
                    <a:pt x="8703" y="0"/>
                    <a:pt x="1184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4A99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926572" cy="408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593679" y="2276554"/>
            <a:ext cx="13600556" cy="44817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0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v</a:t>
            </a:r>
            <a:r>
              <a:rPr lang="en-US" sz="2079" b="1">
                <a:solidFill>
                  <a:srgbClr val="004AA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oid saveToFile(struct account acc)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0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{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0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FILE *fp = fopen("account.txt", "w");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0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if (fp == NULL) 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0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{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0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  printf("Error saving data!\n");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0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  return;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0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}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0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//printing information to file account.txt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0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fprintf(fp, "%s\n%d\n%.2f\n%s\n%s\n%s\n",acc.name,acc.pin,acc.balance,acc.bankName,acc.branch,acc.type);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0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fclose(fp); //closing file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079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}</a:t>
            </a:r>
          </a:p>
          <a:p>
            <a:pPr algn="l">
              <a:lnSpc>
                <a:spcPts val="105"/>
              </a:lnSpc>
              <a:spcBef>
                <a:spcPct val="0"/>
              </a:spcBef>
            </a:pPr>
            <a:endParaRPr lang="en-US" sz="2079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1028700" y="2314654"/>
            <a:ext cx="13821696" cy="4443691"/>
            <a:chOff x="0" y="0"/>
            <a:chExt cx="3640282" cy="117035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640282" cy="1170355"/>
            </a:xfrm>
            <a:custGeom>
              <a:avLst/>
              <a:gdLst/>
              <a:ahLst/>
              <a:cxnLst/>
              <a:rect l="l" t="t" r="r" b="b"/>
              <a:pathLst>
                <a:path w="3640282" h="1170355">
                  <a:moveTo>
                    <a:pt x="9522" y="0"/>
                  </a:moveTo>
                  <a:lnTo>
                    <a:pt x="3630760" y="0"/>
                  </a:lnTo>
                  <a:cubicBezTo>
                    <a:pt x="3633285" y="0"/>
                    <a:pt x="3635707" y="1003"/>
                    <a:pt x="3637493" y="2789"/>
                  </a:cubicBezTo>
                  <a:cubicBezTo>
                    <a:pt x="3639279" y="4575"/>
                    <a:pt x="3640282" y="6997"/>
                    <a:pt x="3640282" y="9522"/>
                  </a:cubicBezTo>
                  <a:lnTo>
                    <a:pt x="3640282" y="1160833"/>
                  </a:lnTo>
                  <a:cubicBezTo>
                    <a:pt x="3640282" y="1163358"/>
                    <a:pt x="3639279" y="1165780"/>
                    <a:pt x="3637493" y="1167566"/>
                  </a:cubicBezTo>
                  <a:cubicBezTo>
                    <a:pt x="3635707" y="1169351"/>
                    <a:pt x="3633285" y="1170355"/>
                    <a:pt x="3630760" y="1170355"/>
                  </a:cubicBezTo>
                  <a:lnTo>
                    <a:pt x="9522" y="1170355"/>
                  </a:lnTo>
                  <a:cubicBezTo>
                    <a:pt x="6997" y="1170355"/>
                    <a:pt x="4575" y="1169351"/>
                    <a:pt x="2789" y="1167566"/>
                  </a:cubicBezTo>
                  <a:cubicBezTo>
                    <a:pt x="1003" y="1165780"/>
                    <a:pt x="0" y="1163358"/>
                    <a:pt x="0" y="1160833"/>
                  </a:cubicBezTo>
                  <a:lnTo>
                    <a:pt x="0" y="9522"/>
                  </a:lnTo>
                  <a:cubicBezTo>
                    <a:pt x="0" y="6997"/>
                    <a:pt x="1003" y="4575"/>
                    <a:pt x="2789" y="2789"/>
                  </a:cubicBezTo>
                  <a:cubicBezTo>
                    <a:pt x="4575" y="1003"/>
                    <a:pt x="6997" y="0"/>
                    <a:pt x="952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4AAD"/>
              </a:solidFill>
              <a:prstDash val="lgDash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640282" cy="12084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6914809"/>
            <a:ext cx="11802208" cy="3178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114"/>
              </a:lnSpc>
            </a:pPr>
            <a:r>
              <a:rPr lang="en-US" sz="2224" b="1">
                <a:solidFill>
                  <a:srgbClr val="004AA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void checkBalance(struct account acc)</a:t>
            </a:r>
          </a:p>
          <a:p>
            <a:pPr algn="just">
              <a:lnSpc>
                <a:spcPts val="3114"/>
              </a:lnSpc>
            </a:pPr>
            <a:r>
              <a:rPr lang="en-US" sz="2224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{</a:t>
            </a:r>
          </a:p>
          <a:p>
            <a:pPr algn="just">
              <a:lnSpc>
                <a:spcPts val="3114"/>
              </a:lnSpc>
              <a:spcBef>
                <a:spcPct val="0"/>
              </a:spcBef>
            </a:pPr>
            <a:r>
              <a:rPr lang="en-US" sz="2224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printf("\nYour balance: Rs %.2f\n", acc.balance);//printing acc balance</a:t>
            </a:r>
          </a:p>
          <a:p>
            <a:pPr algn="just">
              <a:lnSpc>
                <a:spcPts val="3114"/>
              </a:lnSpc>
              <a:spcBef>
                <a:spcPct val="0"/>
              </a:spcBef>
            </a:pPr>
            <a:r>
              <a:rPr lang="en-US" sz="2224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if (acc.balance &lt; 1000)</a:t>
            </a:r>
          </a:p>
          <a:p>
            <a:pPr algn="just">
              <a:lnSpc>
                <a:spcPts val="3114"/>
              </a:lnSpc>
              <a:spcBef>
                <a:spcPct val="0"/>
              </a:spcBef>
            </a:pPr>
            <a:r>
              <a:rPr lang="en-US" sz="2224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      { printf("\n WARNING:Your balance is very low.Please deposit soon.\n");</a:t>
            </a:r>
          </a:p>
          <a:p>
            <a:pPr algn="just">
              <a:lnSpc>
                <a:spcPts val="3114"/>
              </a:lnSpc>
              <a:spcBef>
                <a:spcPct val="0"/>
              </a:spcBef>
            </a:pPr>
            <a:r>
              <a:rPr lang="en-US" sz="2224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       }</a:t>
            </a:r>
          </a:p>
          <a:p>
            <a:pPr algn="just">
              <a:lnSpc>
                <a:spcPts val="3114"/>
              </a:lnSpc>
              <a:spcBef>
                <a:spcPct val="0"/>
              </a:spcBef>
            </a:pPr>
            <a:r>
              <a:rPr lang="en-US" sz="2224">
                <a:solidFill>
                  <a:srgbClr val="004AAD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}</a:t>
            </a:r>
          </a:p>
          <a:p>
            <a:pPr algn="just">
              <a:lnSpc>
                <a:spcPts val="3114"/>
              </a:lnSpc>
              <a:spcBef>
                <a:spcPct val="0"/>
              </a:spcBef>
            </a:pPr>
            <a:endParaRPr lang="en-US" sz="2224">
              <a:solidFill>
                <a:srgbClr val="004AAD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829242" y="6962434"/>
            <a:ext cx="11656476" cy="3324566"/>
            <a:chOff x="0" y="0"/>
            <a:chExt cx="3070018" cy="8756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070018" cy="875606"/>
            </a:xfrm>
            <a:custGeom>
              <a:avLst/>
              <a:gdLst/>
              <a:ahLst/>
              <a:cxnLst/>
              <a:rect l="l" t="t" r="r" b="b"/>
              <a:pathLst>
                <a:path w="3070018" h="875606">
                  <a:moveTo>
                    <a:pt x="11291" y="0"/>
                  </a:moveTo>
                  <a:lnTo>
                    <a:pt x="3058727" y="0"/>
                  </a:lnTo>
                  <a:cubicBezTo>
                    <a:pt x="3064963" y="0"/>
                    <a:pt x="3070018" y="5055"/>
                    <a:pt x="3070018" y="11291"/>
                  </a:cubicBezTo>
                  <a:lnTo>
                    <a:pt x="3070018" y="864315"/>
                  </a:lnTo>
                  <a:cubicBezTo>
                    <a:pt x="3070018" y="867309"/>
                    <a:pt x="3068829" y="870181"/>
                    <a:pt x="3066711" y="872299"/>
                  </a:cubicBezTo>
                  <a:cubicBezTo>
                    <a:pt x="3064594" y="874416"/>
                    <a:pt x="3061722" y="875606"/>
                    <a:pt x="3058727" y="875606"/>
                  </a:cubicBezTo>
                  <a:lnTo>
                    <a:pt x="11291" y="875606"/>
                  </a:lnTo>
                  <a:cubicBezTo>
                    <a:pt x="5055" y="875606"/>
                    <a:pt x="0" y="870551"/>
                    <a:pt x="0" y="864315"/>
                  </a:cubicBezTo>
                  <a:lnTo>
                    <a:pt x="0" y="11291"/>
                  </a:lnTo>
                  <a:cubicBezTo>
                    <a:pt x="0" y="5055"/>
                    <a:pt x="5055" y="0"/>
                    <a:pt x="1129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133E87"/>
              </a:solidFill>
              <a:prstDash val="lgDash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3070018" cy="9137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4337419" y="6352894"/>
            <a:ext cx="3636435" cy="3414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75"/>
              </a:lnSpc>
              <a:spcBef>
                <a:spcPct val="0"/>
              </a:spcBef>
            </a:pPr>
            <a:r>
              <a:rPr lang="en-US" sz="3625" b="1" i="1" u="sng">
                <a:solidFill>
                  <a:srgbClr val="004AAD"/>
                </a:solidFill>
                <a:latin typeface="Helvetica World Bold Italics"/>
                <a:ea typeface="Helvetica World Bold Italics"/>
                <a:cs typeface="Helvetica World Bold Italics"/>
                <a:sym typeface="Helvetica World Bold Italics"/>
              </a:rPr>
              <a:t>“All other test cases and full source code are available in the project report.”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1096</Words>
  <Application>Microsoft Office PowerPoint</Application>
  <PresentationFormat>Custom</PresentationFormat>
  <Paragraphs>210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5" baseType="lpstr">
      <vt:lpstr>Arial</vt:lpstr>
      <vt:lpstr>Calibri</vt:lpstr>
      <vt:lpstr>Times New Roman</vt:lpstr>
      <vt:lpstr>Mangal</vt:lpstr>
      <vt:lpstr>Times New Roman MT</vt:lpstr>
      <vt:lpstr>Helvetica World</vt:lpstr>
      <vt:lpstr>Helvetica World Bold</vt:lpstr>
      <vt:lpstr>Georgia Pro Condensed</vt:lpstr>
      <vt:lpstr>Helvetica World Bold Italics</vt:lpstr>
      <vt:lpstr>DM Serif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C ATM Simulator Project</dc:title>
  <dc:creator>pc</dc:creator>
  <dc:description>Presentation - C ATM Simulator Project</dc:description>
  <cp:lastModifiedBy>pc</cp:lastModifiedBy>
  <cp:revision>5</cp:revision>
  <dcterms:created xsi:type="dcterms:W3CDTF">2006-08-16T00:00:00Z</dcterms:created>
  <dcterms:modified xsi:type="dcterms:W3CDTF">2025-12-01T18:07:48Z</dcterms:modified>
  <dc:identifier>DAG6RwReqr8</dc:identifier>
</cp:coreProperties>
</file>