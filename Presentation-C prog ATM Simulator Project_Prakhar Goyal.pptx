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9144000" cy="6858000"/>
  <p:embeddedFontLst>
    <p:embeddedFont>
      <p:font typeface="Helvetica World Bold Italics" charset="-128"/>
      <p:regular r:id="rId23"/>
    </p:embeddedFont>
    <p:embeddedFont>
      <p:font typeface="Canva Sans" charset="0"/>
      <p:regular r:id="rId24"/>
    </p:embeddedFont>
    <p:embeddedFont>
      <p:font typeface="Calibri" pitchFamily="34" charset="0"/>
      <p:regular r:id="rId25"/>
      <p:bold r:id="rId26"/>
      <p:italic r:id="rId27"/>
      <p:boldItalic r:id="rId28"/>
    </p:embeddedFont>
    <p:embeddedFont>
      <p:font typeface="DM Serif Display" charset="0"/>
      <p:regular r:id="rId29"/>
    </p:embeddedFont>
    <p:embeddedFont>
      <p:font typeface="Helvetica World" charset="-128"/>
      <p:regular r:id="rId30"/>
    </p:embeddedFont>
    <p:embeddedFont>
      <p:font typeface="Helvetica World Bold" charset="-128"/>
      <p:regular r:id="rId31"/>
    </p:embeddedFont>
    <p:embeddedFont>
      <p:font typeface="Georgia Pro Condensed" charset="0"/>
      <p:regular r:id="rId32"/>
    </p:embeddedFont>
    <p:embeddedFont>
      <p:font typeface="Times New Roman MT Bold" charset="0"/>
      <p:regular r:id="rId33"/>
    </p:embeddedFont>
    <p:embeddedFont>
      <p:font typeface="Times New Roman Bold" pitchFamily="18" charset="0"/>
      <p:bold r:id="rId34"/>
    </p:embeddedFont>
    <p:embeddedFont>
      <p:font typeface="Times New Roman MT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94622" autoAdjust="0"/>
  </p:normalViewPr>
  <p:slideViewPr>
    <p:cSldViewPr>
      <p:cViewPr>
        <p:scale>
          <a:sx n="33" d="100"/>
          <a:sy n="33" d="100"/>
        </p:scale>
        <p:origin x="-2006" y="-7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379CE7-FDEB-4ABB-968C-2E730EC244C1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6B3ED2-7B4F-4BE3-BCF7-F043258900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6451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C8848F-99A7-4063-99CB-FCFE33E14FBF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22AF57-63D5-4E1D-9C6A-754F9A055E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61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121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972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3943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866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3925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3653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60442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2495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98200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5085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0410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280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1537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3986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006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067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7297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8379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22AF57-63D5-4E1D-9C6A-754F9A055E1C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0735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1868150" y="3884984"/>
            <a:ext cx="5753100" cy="6402016"/>
            <a:chOff x="0" y="0"/>
            <a:chExt cx="814724" cy="9066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4724" cy="906621"/>
            </a:xfrm>
            <a:custGeom>
              <a:avLst/>
              <a:gdLst/>
              <a:ahLst/>
              <a:cxnLst/>
              <a:rect l="l" t="t" r="r" b="b"/>
              <a:pathLst>
                <a:path w="814724" h="906621">
                  <a:moveTo>
                    <a:pt x="26914" y="0"/>
                  </a:moveTo>
                  <a:lnTo>
                    <a:pt x="787810" y="0"/>
                  </a:lnTo>
                  <a:cubicBezTo>
                    <a:pt x="802675" y="0"/>
                    <a:pt x="814724" y="12050"/>
                    <a:pt x="814724" y="26914"/>
                  </a:cubicBezTo>
                  <a:lnTo>
                    <a:pt x="814724" y="879707"/>
                  </a:lnTo>
                  <a:cubicBezTo>
                    <a:pt x="814724" y="894571"/>
                    <a:pt x="802675" y="906621"/>
                    <a:pt x="787810" y="906621"/>
                  </a:cubicBezTo>
                  <a:lnTo>
                    <a:pt x="26914" y="906621"/>
                  </a:lnTo>
                  <a:cubicBezTo>
                    <a:pt x="19776" y="906621"/>
                    <a:pt x="12930" y="903785"/>
                    <a:pt x="7883" y="898738"/>
                  </a:cubicBezTo>
                  <a:cubicBezTo>
                    <a:pt x="2836" y="893690"/>
                    <a:pt x="0" y="886845"/>
                    <a:pt x="0" y="879707"/>
                  </a:cubicBezTo>
                  <a:lnTo>
                    <a:pt x="0" y="26914"/>
                  </a:lnTo>
                  <a:cubicBezTo>
                    <a:pt x="0" y="12050"/>
                    <a:pt x="12050" y="0"/>
                    <a:pt x="26914" y="0"/>
                  </a:cubicBezTo>
                  <a:close/>
                </a:path>
              </a:pathLst>
            </a:custGeom>
            <a:blipFill>
              <a:blip r:embed="rId3"/>
              <a:stretch>
                <a:fillRect t="-20206" b="-2020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4744700" y="-44501"/>
            <a:ext cx="3442342" cy="2146401"/>
          </a:xfrm>
          <a:custGeom>
            <a:avLst/>
            <a:gdLst/>
            <a:ahLst/>
            <a:cxnLst/>
            <a:rect l="l" t="t" r="r" b="b"/>
            <a:pathLst>
              <a:path w="3442342" h="2146401">
                <a:moveTo>
                  <a:pt x="0" y="0"/>
                </a:moveTo>
                <a:lnTo>
                  <a:pt x="3442342" y="0"/>
                </a:lnTo>
                <a:lnTo>
                  <a:pt x="3442342" y="2146402"/>
                </a:lnTo>
                <a:lnTo>
                  <a:pt x="0" y="2146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06866" y="6105524"/>
            <a:ext cx="7478614" cy="3714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Presented by -Prakhar Goyal</a:t>
            </a:r>
          </a:p>
          <a:p>
            <a:pPr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         SAP ID:590027648</a:t>
            </a:r>
          </a:p>
          <a:p>
            <a:pPr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           Batch-59 </a:t>
            </a:r>
          </a:p>
          <a:p>
            <a:pPr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               Semester-1</a:t>
            </a:r>
          </a:p>
          <a:p>
            <a:pPr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Course Name-Programming In C</a:t>
            </a:r>
          </a:p>
          <a:p>
            <a:pPr marL="0" lvl="0" indent="0" algn="r">
              <a:lnSpc>
                <a:spcPts val="4940"/>
              </a:lnSpc>
            </a:pPr>
            <a:r>
              <a:rPr lang="en-US" sz="3800" spc="-57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 SOCS,UPES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99355" y="2368601"/>
            <a:ext cx="16759945" cy="18712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4044"/>
              </a:lnSpc>
            </a:pPr>
            <a:r>
              <a:rPr lang="en-US" sz="14044" u="none" strike="noStrike" spc="-491">
                <a:solidFill>
                  <a:srgbClr val="004A99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ATM-Simulator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01150"/>
            <a:ext cx="152400" cy="2095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D4D4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20548" y="0"/>
                  </a:moveTo>
                  <a:lnTo>
                    <a:pt x="4444835" y="0"/>
                  </a:lnTo>
                  <a:cubicBezTo>
                    <a:pt x="4456183" y="0"/>
                    <a:pt x="4465383" y="9200"/>
                    <a:pt x="4465383" y="20548"/>
                  </a:cubicBezTo>
                  <a:lnTo>
                    <a:pt x="4465383" y="2337575"/>
                  </a:lnTo>
                  <a:cubicBezTo>
                    <a:pt x="4465383" y="2348924"/>
                    <a:pt x="4456183" y="2358124"/>
                    <a:pt x="4444835" y="2358124"/>
                  </a:cubicBezTo>
                  <a:lnTo>
                    <a:pt x="20548" y="2358124"/>
                  </a:lnTo>
                  <a:cubicBezTo>
                    <a:pt x="9200" y="2358124"/>
                    <a:pt x="0" y="2348924"/>
                    <a:pt x="0" y="2337575"/>
                  </a:cubicBezTo>
                  <a:lnTo>
                    <a:pt x="0" y="20548"/>
                  </a:lnTo>
                  <a:cubicBezTo>
                    <a:pt x="0" y="9200"/>
                    <a:pt x="9200" y="0"/>
                    <a:pt x="20548" y="0"/>
                  </a:cubicBezTo>
                  <a:close/>
                </a:path>
              </a:pathLst>
            </a:custGeom>
            <a:solidFill>
              <a:srgbClr val="F5CEAD"/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02015" y="1463633"/>
            <a:ext cx="15436119" cy="7731209"/>
            <a:chOff x="0" y="0"/>
            <a:chExt cx="20581491" cy="10308278"/>
          </a:xfrm>
        </p:grpSpPr>
        <p:sp>
          <p:nvSpPr>
            <p:cNvPr id="7" name="TextBox 7"/>
            <p:cNvSpPr txBox="1"/>
            <p:nvPr/>
          </p:nvSpPr>
          <p:spPr>
            <a:xfrm>
              <a:off x="0" y="-85725"/>
              <a:ext cx="20581491" cy="16681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0140"/>
                </a:lnSpc>
              </a:pPr>
              <a:r>
                <a:rPr lang="en-US" sz="7800" spc="-234">
                  <a:solidFill>
                    <a:srgbClr val="004A99"/>
                  </a:solidFill>
                  <a:latin typeface="Georgia Pro Condensed"/>
                  <a:ea typeface="Georgia Pro Condensed"/>
                  <a:cs typeface="Georgia Pro Condensed"/>
                  <a:sym typeface="Georgia Pro Condensed"/>
                </a:rPr>
                <a:t>Introduction: 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152973"/>
              <a:ext cx="20581491" cy="81553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39"/>
                </a:lnSpc>
              </a:pPr>
              <a:endParaRPr dirty="0"/>
            </a:p>
            <a:p>
              <a:pPr algn="l">
                <a:lnSpc>
                  <a:spcPts val="4560"/>
                </a:lnSpc>
              </a:pPr>
              <a:r>
                <a:rPr lang="en-US" sz="3800" b="1" spc="-57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This project on Automated Teller Machine(ATM) is made using C Programming language.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This is a simulation of real </a:t>
              </a: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ATM,it</a:t>
              </a: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allows a single user to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perform various everyday needed operations like ,logging in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via a pin(with max 3 wrong attempts for Security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feature),checking account </a:t>
              </a: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balance,depositng</a:t>
              </a: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and</a:t>
              </a:r>
            </a:p>
            <a:p>
              <a:pPr algn="l">
                <a:lnSpc>
                  <a:spcPts val="4559"/>
                </a:lnSpc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withdrawing </a:t>
              </a: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money,changing</a:t>
              </a: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atm</a:t>
              </a: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</a:t>
              </a: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pin,changing</a:t>
              </a:r>
              <a:endParaRPr lang="en-US" sz="3799" b="1" spc="-56" dirty="0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endParaRPr>
            </a:p>
            <a:p>
              <a:pPr algn="l">
                <a:lnSpc>
                  <a:spcPts val="4559"/>
                </a:lnSpc>
              </a:pPr>
              <a:r>
                <a:rPr lang="en-US" sz="3799" b="1" spc="-56" dirty="0" err="1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username,prinntng</a:t>
              </a: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 receipt and mini transaction history (on</a:t>
              </a:r>
            </a:p>
            <a:p>
              <a:pPr marL="0" lvl="0" indent="0" algn="l">
                <a:lnSpc>
                  <a:spcPts val="4559"/>
                </a:lnSpc>
                <a:spcBef>
                  <a:spcPct val="0"/>
                </a:spcBef>
              </a:pPr>
              <a:r>
                <a:rPr lang="en-US" sz="3799" b="1" spc="-56" dirty="0">
                  <a:solidFill>
                    <a:srgbClr val="004A99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screen) using file handling concepts.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2015" y="1463633"/>
            <a:ext cx="14205338" cy="1352679"/>
            <a:chOff x="0" y="0"/>
            <a:chExt cx="3741323" cy="3562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41324" cy="356261"/>
            </a:xfrm>
            <a:custGeom>
              <a:avLst/>
              <a:gdLst/>
              <a:ahLst/>
              <a:cxnLst/>
              <a:rect l="l" t="t" r="r" b="b"/>
              <a:pathLst>
                <a:path w="3741324" h="356261">
                  <a:moveTo>
                    <a:pt x="9265" y="0"/>
                  </a:moveTo>
                  <a:lnTo>
                    <a:pt x="3732059" y="0"/>
                  </a:lnTo>
                  <a:cubicBezTo>
                    <a:pt x="3734516" y="0"/>
                    <a:pt x="3736872" y="976"/>
                    <a:pt x="3738610" y="2714"/>
                  </a:cubicBezTo>
                  <a:cubicBezTo>
                    <a:pt x="3740347" y="4451"/>
                    <a:pt x="3741324" y="6808"/>
                    <a:pt x="3741324" y="9265"/>
                  </a:cubicBezTo>
                  <a:lnTo>
                    <a:pt x="3741324" y="346996"/>
                  </a:lnTo>
                  <a:cubicBezTo>
                    <a:pt x="3741324" y="352113"/>
                    <a:pt x="3737175" y="356261"/>
                    <a:pt x="3732059" y="356261"/>
                  </a:cubicBezTo>
                  <a:lnTo>
                    <a:pt x="9265" y="356261"/>
                  </a:lnTo>
                  <a:cubicBezTo>
                    <a:pt x="4148" y="356261"/>
                    <a:pt x="0" y="352113"/>
                    <a:pt x="0" y="346996"/>
                  </a:cubicBezTo>
                  <a:lnTo>
                    <a:pt x="0" y="9265"/>
                  </a:lnTo>
                  <a:cubicBezTo>
                    <a:pt x="0" y="4148"/>
                    <a:pt x="4148" y="0"/>
                    <a:pt x="926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3741323" cy="4134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64904" y="-324127"/>
            <a:ext cx="16600304" cy="9548162"/>
            <a:chOff x="0" y="-57150"/>
            <a:chExt cx="4372097" cy="2514742"/>
          </a:xfrm>
        </p:grpSpPr>
        <p:sp>
          <p:nvSpPr>
            <p:cNvPr id="14" name="Freeform 14"/>
            <p:cNvSpPr/>
            <p:nvPr/>
          </p:nvSpPr>
          <p:spPr>
            <a:xfrm>
              <a:off x="277502" y="907690"/>
              <a:ext cx="4094595" cy="1549902"/>
            </a:xfrm>
            <a:custGeom>
              <a:avLst/>
              <a:gdLst/>
              <a:ahLst/>
              <a:cxnLst/>
              <a:rect l="l" t="t" r="r" b="b"/>
              <a:pathLst>
                <a:path w="4094595" h="1549902">
                  <a:moveTo>
                    <a:pt x="8466" y="0"/>
                  </a:moveTo>
                  <a:lnTo>
                    <a:pt x="4086129" y="0"/>
                  </a:lnTo>
                  <a:cubicBezTo>
                    <a:pt x="4088374" y="0"/>
                    <a:pt x="4090527" y="892"/>
                    <a:pt x="4092115" y="2480"/>
                  </a:cubicBezTo>
                  <a:cubicBezTo>
                    <a:pt x="4093703" y="4067"/>
                    <a:pt x="4094595" y="6220"/>
                    <a:pt x="4094595" y="8466"/>
                  </a:cubicBezTo>
                  <a:lnTo>
                    <a:pt x="4094595" y="1541436"/>
                  </a:lnTo>
                  <a:cubicBezTo>
                    <a:pt x="4094595" y="1543682"/>
                    <a:pt x="4093703" y="1545835"/>
                    <a:pt x="4092115" y="1547423"/>
                  </a:cubicBezTo>
                  <a:cubicBezTo>
                    <a:pt x="4090527" y="1549010"/>
                    <a:pt x="4088374" y="1549902"/>
                    <a:pt x="4086129" y="1549902"/>
                  </a:cubicBezTo>
                  <a:lnTo>
                    <a:pt x="8466" y="1549902"/>
                  </a:lnTo>
                  <a:cubicBezTo>
                    <a:pt x="6220" y="1549902"/>
                    <a:pt x="4067" y="1549010"/>
                    <a:pt x="2480" y="1547423"/>
                  </a:cubicBezTo>
                  <a:cubicBezTo>
                    <a:pt x="892" y="1545835"/>
                    <a:pt x="0" y="1543682"/>
                    <a:pt x="0" y="1541436"/>
                  </a:cubicBezTo>
                  <a:lnTo>
                    <a:pt x="0" y="8466"/>
                  </a:lnTo>
                  <a:cubicBezTo>
                    <a:pt x="0" y="6220"/>
                    <a:pt x="892" y="4067"/>
                    <a:pt x="2480" y="2480"/>
                  </a:cubicBezTo>
                  <a:cubicBezTo>
                    <a:pt x="4067" y="892"/>
                    <a:pt x="6220" y="0"/>
                    <a:pt x="846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4094595" cy="1607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78564" y="356861"/>
            <a:ext cx="5421273" cy="1574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dirty="0" smtClean="0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Objectives</a:t>
            </a:r>
            <a:endParaRPr lang="en-US" sz="9200" dirty="0">
              <a:solidFill>
                <a:srgbClr val="004A99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39298" y="2518350"/>
            <a:ext cx="17169385" cy="70019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build a 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simple and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easy to use ATM Simulator in C that feels similar to a real ATM experience.</a:t>
            </a:r>
          </a:p>
          <a:p>
            <a:pPr marL="323850" lvl="1" algn="ctr">
              <a:lnSpc>
                <a:spcPts val="4200"/>
              </a:lnSpc>
            </a:pPr>
            <a:endParaRPr lang="en-US" sz="3000" dirty="0" smtClean="0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781050" lvl="1" indent="-457200" algn="ctr">
              <a:lnSpc>
                <a:spcPts val="4200"/>
              </a:lnSpc>
              <a:buFont typeface="Arial" pitchFamily="34" charset="0"/>
              <a:buChar char="•"/>
            </a:pP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the concepts taught  by our professor in the semester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allow the user to perform 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everyday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ATM operations tasks like logging in an ATM with secure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PIN,checking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current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balance,deposit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withdraw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money,change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PIN,etc</a:t>
            </a:r>
            <a:endParaRPr lang="en-US" sz="3000" dirty="0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use the concepts of file handling so the ATM 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can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remember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acc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details even after the program is terminated.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use the concept of modular programming approach and breaking the code into clean and reusable functions that are easy to understand.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get a clearer idea how real ATM machine work behind the scene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implement a basic easy security mechanism (3 wrong PIN attempts) to make ATM feel 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more like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real ATM.</a:t>
            </a:r>
          </a:p>
          <a:p>
            <a:pPr marL="647700" lvl="1" indent="-323850" algn="ctr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To improve my understanding and logic building by handling different types of user input cases.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709286"/>
            <a:ext cx="5998125" cy="1266974"/>
            <a:chOff x="0" y="0"/>
            <a:chExt cx="1579753" cy="33368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9753" cy="333689"/>
            </a:xfrm>
            <a:custGeom>
              <a:avLst/>
              <a:gdLst/>
              <a:ahLst/>
              <a:cxnLst/>
              <a:rect l="l" t="t" r="r" b="b"/>
              <a:pathLst>
                <a:path w="1579753" h="333689">
                  <a:moveTo>
                    <a:pt x="34850" y="0"/>
                  </a:moveTo>
                  <a:lnTo>
                    <a:pt x="1544904" y="0"/>
                  </a:lnTo>
                  <a:cubicBezTo>
                    <a:pt x="1554146" y="0"/>
                    <a:pt x="1563010" y="3672"/>
                    <a:pt x="1569546" y="10207"/>
                  </a:cubicBezTo>
                  <a:cubicBezTo>
                    <a:pt x="1576081" y="16743"/>
                    <a:pt x="1579753" y="25607"/>
                    <a:pt x="1579753" y="34850"/>
                  </a:cubicBezTo>
                  <a:lnTo>
                    <a:pt x="1579753" y="298839"/>
                  </a:lnTo>
                  <a:cubicBezTo>
                    <a:pt x="1579753" y="318086"/>
                    <a:pt x="1564150" y="333689"/>
                    <a:pt x="1544904" y="333689"/>
                  </a:cubicBezTo>
                  <a:lnTo>
                    <a:pt x="34850" y="333689"/>
                  </a:lnTo>
                  <a:cubicBezTo>
                    <a:pt x="25607" y="333689"/>
                    <a:pt x="16743" y="330017"/>
                    <a:pt x="10207" y="323481"/>
                  </a:cubicBezTo>
                  <a:cubicBezTo>
                    <a:pt x="3672" y="316946"/>
                    <a:pt x="0" y="308082"/>
                    <a:pt x="0" y="298839"/>
                  </a:cubicBezTo>
                  <a:lnTo>
                    <a:pt x="0" y="34850"/>
                  </a:lnTo>
                  <a:cubicBezTo>
                    <a:pt x="0" y="25607"/>
                    <a:pt x="3672" y="16743"/>
                    <a:pt x="10207" y="10207"/>
                  </a:cubicBezTo>
                  <a:cubicBezTo>
                    <a:pt x="16743" y="3672"/>
                    <a:pt x="25607" y="0"/>
                    <a:pt x="3485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4AAD"/>
              </a:solidFill>
              <a:prstDash val="solid"/>
              <a:round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579753" cy="390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7315200" y="-18326100"/>
            <a:ext cx="25422241" cy="28165549"/>
            <a:chOff x="0" y="-57150"/>
            <a:chExt cx="6809498" cy="7418088"/>
          </a:xfrm>
        </p:grpSpPr>
        <p:sp>
          <p:nvSpPr>
            <p:cNvPr id="8" name="Freeform 8"/>
            <p:cNvSpPr/>
            <p:nvPr/>
          </p:nvSpPr>
          <p:spPr>
            <a:xfrm>
              <a:off x="2056119" y="5389079"/>
              <a:ext cx="4753379" cy="1971859"/>
            </a:xfrm>
            <a:custGeom>
              <a:avLst/>
              <a:gdLst/>
              <a:ahLst/>
              <a:cxnLst/>
              <a:rect l="l" t="t" r="r" b="b"/>
              <a:pathLst>
                <a:path w="4753379" h="1914709">
                  <a:moveTo>
                    <a:pt x="7292" y="0"/>
                  </a:moveTo>
                  <a:lnTo>
                    <a:pt x="4746087" y="0"/>
                  </a:lnTo>
                  <a:cubicBezTo>
                    <a:pt x="4748021" y="0"/>
                    <a:pt x="4749876" y="768"/>
                    <a:pt x="4751243" y="2136"/>
                  </a:cubicBezTo>
                  <a:cubicBezTo>
                    <a:pt x="4752611" y="3503"/>
                    <a:pt x="4753379" y="5358"/>
                    <a:pt x="4753379" y="7292"/>
                  </a:cubicBezTo>
                  <a:lnTo>
                    <a:pt x="4753379" y="1907416"/>
                  </a:lnTo>
                  <a:cubicBezTo>
                    <a:pt x="4753379" y="1911444"/>
                    <a:pt x="4750114" y="1914709"/>
                    <a:pt x="4746087" y="1914709"/>
                  </a:cubicBezTo>
                  <a:lnTo>
                    <a:pt x="7292" y="1914709"/>
                  </a:lnTo>
                  <a:cubicBezTo>
                    <a:pt x="3265" y="1914709"/>
                    <a:pt x="0" y="1911444"/>
                    <a:pt x="0" y="1907416"/>
                  </a:cubicBezTo>
                  <a:lnTo>
                    <a:pt x="0" y="7292"/>
                  </a:lnTo>
                  <a:cubicBezTo>
                    <a:pt x="0" y="3265"/>
                    <a:pt x="3265" y="0"/>
                    <a:pt x="72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AD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753379" cy="19718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112884" y="962488"/>
            <a:ext cx="12583169" cy="21672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856"/>
              </a:lnSpc>
            </a:pPr>
            <a:r>
              <a:rPr lang="en-US" sz="12040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</a:t>
            </a:r>
            <a:r>
              <a:rPr lang="en-US" sz="12040" dirty="0" smtClean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Definition</a:t>
            </a:r>
            <a:endParaRPr lang="en-US" sz="12040" dirty="0">
              <a:solidFill>
                <a:srgbClr val="004A9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872382" y="-1028700"/>
            <a:ext cx="13639354" cy="4282225"/>
            <a:chOff x="0" y="-57150"/>
            <a:chExt cx="3592258" cy="1127828"/>
          </a:xfrm>
        </p:grpSpPr>
        <p:sp>
          <p:nvSpPr>
            <p:cNvPr id="4" name="Freeform 4"/>
            <p:cNvSpPr/>
            <p:nvPr/>
          </p:nvSpPr>
          <p:spPr>
            <a:xfrm>
              <a:off x="28279" y="477714"/>
              <a:ext cx="3563979" cy="592964"/>
            </a:xfrm>
            <a:custGeom>
              <a:avLst/>
              <a:gdLst/>
              <a:ahLst/>
              <a:cxnLst/>
              <a:rect l="l" t="t" r="r" b="b"/>
              <a:pathLst>
                <a:path w="3563979" h="592964">
                  <a:moveTo>
                    <a:pt x="9726" y="0"/>
                  </a:moveTo>
                  <a:lnTo>
                    <a:pt x="3554253" y="0"/>
                  </a:lnTo>
                  <a:cubicBezTo>
                    <a:pt x="3556833" y="0"/>
                    <a:pt x="3559306" y="1025"/>
                    <a:pt x="3561130" y="2849"/>
                  </a:cubicBezTo>
                  <a:cubicBezTo>
                    <a:pt x="3562954" y="4673"/>
                    <a:pt x="3563979" y="7147"/>
                    <a:pt x="3563979" y="9726"/>
                  </a:cubicBezTo>
                  <a:lnTo>
                    <a:pt x="3563979" y="583238"/>
                  </a:lnTo>
                  <a:cubicBezTo>
                    <a:pt x="3563979" y="585818"/>
                    <a:pt x="3562954" y="588292"/>
                    <a:pt x="3561130" y="590116"/>
                  </a:cubicBezTo>
                  <a:cubicBezTo>
                    <a:pt x="3559306" y="591940"/>
                    <a:pt x="3556833" y="592964"/>
                    <a:pt x="3554253" y="592964"/>
                  </a:cubicBezTo>
                  <a:lnTo>
                    <a:pt x="9726" y="592964"/>
                  </a:lnTo>
                  <a:cubicBezTo>
                    <a:pt x="4354" y="592964"/>
                    <a:pt x="0" y="588610"/>
                    <a:pt x="0" y="583238"/>
                  </a:cubicBezTo>
                  <a:lnTo>
                    <a:pt x="0" y="9726"/>
                  </a:lnTo>
                  <a:cubicBezTo>
                    <a:pt x="0" y="7147"/>
                    <a:pt x="1025" y="4673"/>
                    <a:pt x="2849" y="2849"/>
                  </a:cubicBezTo>
                  <a:cubicBezTo>
                    <a:pt x="4673" y="1025"/>
                    <a:pt x="7147" y="0"/>
                    <a:pt x="97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3563979" cy="6501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0" y="4066915"/>
            <a:ext cx="17757752" cy="6169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everyday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life,ATM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used by people everyday but very few know what happens inside the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machine’software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how it updates the account balance and info.</a:t>
            </a:r>
          </a:p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to simulate how an ATM performs tasks like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login,transactions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error handling</a:t>
            </a:r>
          </a:p>
          <a:p>
            <a:pPr marL="734053" lvl="1" indent="-367026" algn="ctr">
              <a:lnSpc>
                <a:spcPts val="4759"/>
              </a:lnSpc>
              <a:buFont typeface="Arial"/>
              <a:buChar char="•"/>
            </a:pPr>
            <a:r>
              <a:rPr lang="en-US" sz="33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must allow secure login using a 4 digit PIN with only 3 attempt allowed.</a:t>
            </a:r>
          </a:p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should support  basic banking operations like checking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balance,deposit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withdraw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money,change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 err="1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PIN,username,Mini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Transaction History.</a:t>
            </a:r>
          </a:p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data must be stored in a file using file handling .</a:t>
            </a:r>
          </a:p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</a:t>
            </a:r>
            <a:r>
              <a:rPr lang="en-US" sz="3499" dirty="0" smtClean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must 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handle </a:t>
            </a:r>
            <a:r>
              <a:rPr lang="en-US" sz="3499" dirty="0" err="1" smtClean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invlalid</a:t>
            </a:r>
            <a:r>
              <a:rPr lang="en-US" sz="3499" dirty="0" smtClean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inputs and maintain errorless operations</a:t>
            </a:r>
          </a:p>
          <a:p>
            <a:pPr marL="755642" lvl="1" indent="-377821" algn="ctr">
              <a:lnSpc>
                <a:spcPts val="4899"/>
              </a:lnSpc>
              <a:buFont typeface="Arial"/>
              <a:buChar char="•"/>
            </a:pPr>
            <a:r>
              <a:rPr lang="en-US" sz="3499" dirty="0">
                <a:solidFill>
                  <a:srgbClr val="004A9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interface must be like real ATM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323505" y="3808745"/>
            <a:ext cx="17464727" cy="6425124"/>
            <a:chOff x="0" y="0"/>
            <a:chExt cx="4599763" cy="169221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99763" cy="1692214"/>
            </a:xfrm>
            <a:custGeom>
              <a:avLst/>
              <a:gdLst/>
              <a:ahLst/>
              <a:cxnLst/>
              <a:rect l="l" t="t" r="r" b="b"/>
              <a:pathLst>
                <a:path w="4599763" h="1692214">
                  <a:moveTo>
                    <a:pt x="7536" y="0"/>
                  </a:moveTo>
                  <a:lnTo>
                    <a:pt x="4592227" y="0"/>
                  </a:lnTo>
                  <a:cubicBezTo>
                    <a:pt x="4594226" y="0"/>
                    <a:pt x="4596143" y="794"/>
                    <a:pt x="4597556" y="2207"/>
                  </a:cubicBezTo>
                  <a:cubicBezTo>
                    <a:pt x="4598969" y="3620"/>
                    <a:pt x="4599763" y="5537"/>
                    <a:pt x="4599763" y="7536"/>
                  </a:cubicBezTo>
                  <a:lnTo>
                    <a:pt x="4599763" y="1684678"/>
                  </a:lnTo>
                  <a:cubicBezTo>
                    <a:pt x="4599763" y="1686677"/>
                    <a:pt x="4598969" y="1688593"/>
                    <a:pt x="4597556" y="1690007"/>
                  </a:cubicBezTo>
                  <a:cubicBezTo>
                    <a:pt x="4596143" y="1691420"/>
                    <a:pt x="4594226" y="1692214"/>
                    <a:pt x="4592227" y="1692214"/>
                  </a:cubicBezTo>
                  <a:lnTo>
                    <a:pt x="7536" y="1692214"/>
                  </a:lnTo>
                  <a:cubicBezTo>
                    <a:pt x="5537" y="1692214"/>
                    <a:pt x="3620" y="1691420"/>
                    <a:pt x="2207" y="1690007"/>
                  </a:cubicBezTo>
                  <a:cubicBezTo>
                    <a:pt x="794" y="1688593"/>
                    <a:pt x="0" y="1686677"/>
                    <a:pt x="0" y="1684678"/>
                  </a:cubicBezTo>
                  <a:lnTo>
                    <a:pt x="0" y="7536"/>
                  </a:lnTo>
                  <a:cubicBezTo>
                    <a:pt x="0" y="5537"/>
                    <a:pt x="794" y="3620"/>
                    <a:pt x="2207" y="2207"/>
                  </a:cubicBezTo>
                  <a:cubicBezTo>
                    <a:pt x="3620" y="794"/>
                    <a:pt x="5537" y="0"/>
                    <a:pt x="75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99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4599763" cy="1749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71800" y="145620"/>
            <a:ext cx="10405197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377"/>
              </a:lnSpc>
            </a:pPr>
            <a:r>
              <a:rPr lang="en-US" sz="8841" b="1" u="sng" dirty="0">
                <a:solidFill>
                  <a:srgbClr val="004A9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Solution Approach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505200" y="419100"/>
            <a:ext cx="10313047" cy="1634907"/>
            <a:chOff x="0" y="0"/>
            <a:chExt cx="2716193" cy="43059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16193" cy="430593"/>
            </a:xfrm>
            <a:custGeom>
              <a:avLst/>
              <a:gdLst/>
              <a:ahLst/>
              <a:cxnLst/>
              <a:rect l="l" t="t" r="r" b="b"/>
              <a:pathLst>
                <a:path w="2716193" h="430593">
                  <a:moveTo>
                    <a:pt x="5255" y="0"/>
                  </a:moveTo>
                  <a:lnTo>
                    <a:pt x="2710938" y="0"/>
                  </a:lnTo>
                  <a:cubicBezTo>
                    <a:pt x="2712332" y="0"/>
                    <a:pt x="2713669" y="554"/>
                    <a:pt x="2714654" y="1539"/>
                  </a:cubicBezTo>
                  <a:cubicBezTo>
                    <a:pt x="2715640" y="2525"/>
                    <a:pt x="2716193" y="3861"/>
                    <a:pt x="2716193" y="5255"/>
                  </a:cubicBezTo>
                  <a:lnTo>
                    <a:pt x="2716193" y="425338"/>
                  </a:lnTo>
                  <a:cubicBezTo>
                    <a:pt x="2716193" y="426732"/>
                    <a:pt x="2715640" y="428068"/>
                    <a:pt x="2714654" y="429054"/>
                  </a:cubicBezTo>
                  <a:cubicBezTo>
                    <a:pt x="2713669" y="430039"/>
                    <a:pt x="2712332" y="430593"/>
                    <a:pt x="2710938" y="430593"/>
                  </a:cubicBezTo>
                  <a:lnTo>
                    <a:pt x="5255" y="430593"/>
                  </a:lnTo>
                  <a:cubicBezTo>
                    <a:pt x="3861" y="430593"/>
                    <a:pt x="2525" y="430039"/>
                    <a:pt x="1539" y="429054"/>
                  </a:cubicBezTo>
                  <a:cubicBezTo>
                    <a:pt x="554" y="428068"/>
                    <a:pt x="0" y="426732"/>
                    <a:pt x="0" y="425338"/>
                  </a:cubicBezTo>
                  <a:lnTo>
                    <a:pt x="0" y="5255"/>
                  </a:lnTo>
                  <a:cubicBezTo>
                    <a:pt x="0" y="3861"/>
                    <a:pt x="554" y="2525"/>
                    <a:pt x="1539" y="1539"/>
                  </a:cubicBezTo>
                  <a:cubicBezTo>
                    <a:pt x="2525" y="554"/>
                    <a:pt x="3861" y="0"/>
                    <a:pt x="52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2716193" cy="4877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41020" y="2170166"/>
            <a:ext cx="17464727" cy="8046577"/>
            <a:chOff x="0" y="0"/>
            <a:chExt cx="4599763" cy="206211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599763" cy="2062113"/>
            </a:xfrm>
            <a:custGeom>
              <a:avLst/>
              <a:gdLst/>
              <a:ahLst/>
              <a:cxnLst/>
              <a:rect l="l" t="t" r="r" b="b"/>
              <a:pathLst>
                <a:path w="4599763" h="2062113">
                  <a:moveTo>
                    <a:pt x="7536" y="0"/>
                  </a:moveTo>
                  <a:lnTo>
                    <a:pt x="4592227" y="0"/>
                  </a:lnTo>
                  <a:cubicBezTo>
                    <a:pt x="4594226" y="0"/>
                    <a:pt x="4596143" y="794"/>
                    <a:pt x="4597556" y="2207"/>
                  </a:cubicBezTo>
                  <a:cubicBezTo>
                    <a:pt x="4598969" y="3620"/>
                    <a:pt x="4599763" y="5537"/>
                    <a:pt x="4599763" y="7536"/>
                  </a:cubicBezTo>
                  <a:lnTo>
                    <a:pt x="4599763" y="2054577"/>
                  </a:lnTo>
                  <a:cubicBezTo>
                    <a:pt x="4599763" y="2056576"/>
                    <a:pt x="4598969" y="2058493"/>
                    <a:pt x="4597556" y="2059906"/>
                  </a:cubicBezTo>
                  <a:cubicBezTo>
                    <a:pt x="4596143" y="2061319"/>
                    <a:pt x="4594226" y="2062113"/>
                    <a:pt x="4592227" y="2062113"/>
                  </a:cubicBezTo>
                  <a:lnTo>
                    <a:pt x="7536" y="2062113"/>
                  </a:lnTo>
                  <a:cubicBezTo>
                    <a:pt x="5537" y="2062113"/>
                    <a:pt x="3620" y="2061319"/>
                    <a:pt x="2207" y="2059906"/>
                  </a:cubicBezTo>
                  <a:cubicBezTo>
                    <a:pt x="794" y="2058493"/>
                    <a:pt x="0" y="2056576"/>
                    <a:pt x="0" y="2054577"/>
                  </a:cubicBezTo>
                  <a:lnTo>
                    <a:pt x="0" y="7536"/>
                  </a:lnTo>
                  <a:cubicBezTo>
                    <a:pt x="0" y="5537"/>
                    <a:pt x="794" y="3620"/>
                    <a:pt x="2207" y="2207"/>
                  </a:cubicBezTo>
                  <a:cubicBezTo>
                    <a:pt x="3620" y="794"/>
                    <a:pt x="5537" y="0"/>
                    <a:pt x="753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7625" cap="sq">
              <a:solidFill>
                <a:srgbClr val="004A99"/>
              </a:solidFill>
              <a:prstDash val="lgDash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4599763" cy="21192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33400" y="2054007"/>
            <a:ext cx="17432550" cy="8848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structure to store account details.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program loads saved account data using the function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loadFromFile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 and creates a default account if no file exists.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Used a secure login system which verifies 4-digit with a limit of 3 attempts.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After the user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login,a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menu driven system(with loop and switch case) allows the user to choose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diferent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ATM tasks and operations.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Each operation is implemented by using </a:t>
            </a:r>
            <a:r>
              <a:rPr lang="en-US" sz="3000" b="1" dirty="0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modular functions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approach like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depositMoney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(),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withdrawMoney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(),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changePIN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(),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checkBalance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(),etc.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Files </a:t>
            </a:r>
            <a:r>
              <a:rPr lang="en-US" sz="3000" b="1" dirty="0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(account.txt and history.txt) 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are used to permanently store account and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transction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history even after the program termination implementing File Handling concepts.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reset function that is used to clear all data and restoring the details to a preset default values for testing and demonstration purposes.</a:t>
            </a:r>
          </a:p>
          <a:p>
            <a:pPr marL="714205" lvl="1" indent="-357102" algn="l">
              <a:lnSpc>
                <a:spcPts val="4631"/>
              </a:lnSpc>
              <a:buFont typeface="Arial"/>
              <a:buChar char="•"/>
            </a:pP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inputs are validated (wrong </a:t>
            </a:r>
            <a:r>
              <a:rPr lang="en-US" sz="3000" dirty="0" err="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PIN,invalid</a:t>
            </a:r>
            <a:r>
              <a:rPr lang="en-US" sz="3000" dirty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amounts and empty names and buffer cleaning) to check for smooth and error free execution 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.Buffer Cleaning using </a:t>
            </a:r>
            <a:r>
              <a:rPr lang="en-US" sz="3000" dirty="0" err="1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fgets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 along with </a:t>
            </a:r>
            <a:r>
              <a:rPr lang="en-US" sz="3000" dirty="0" err="1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NULL,also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used </a:t>
            </a:r>
            <a:r>
              <a:rPr lang="en-US" sz="3000" dirty="0" err="1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fgetc</a:t>
            </a:r>
            <a:r>
              <a:rPr lang="en-US" sz="3000" dirty="0" smtClean="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().</a:t>
            </a:r>
            <a:endParaRPr lang="en-US" sz="3000" dirty="0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marL="814303" lvl="1" indent="-457200" algn="l">
              <a:lnSpc>
                <a:spcPts val="4631"/>
              </a:lnSpc>
              <a:buFont typeface="Arial" pitchFamily="34" charset="0"/>
              <a:buChar char="•"/>
            </a:pPr>
            <a:endParaRPr lang="en-US" sz="3000" dirty="0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7041" y="353739"/>
            <a:ext cx="15893051" cy="1446348"/>
            <a:chOff x="0" y="0"/>
            <a:chExt cx="4185824" cy="3809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85824" cy="380931"/>
            </a:xfrm>
            <a:custGeom>
              <a:avLst/>
              <a:gdLst/>
              <a:ahLst/>
              <a:cxnLst/>
              <a:rect l="l" t="t" r="r" b="b"/>
              <a:pathLst>
                <a:path w="4185824" h="380931">
                  <a:moveTo>
                    <a:pt x="3410" y="0"/>
                  </a:moveTo>
                  <a:lnTo>
                    <a:pt x="4182414" y="0"/>
                  </a:lnTo>
                  <a:cubicBezTo>
                    <a:pt x="4184297" y="0"/>
                    <a:pt x="4185824" y="1527"/>
                    <a:pt x="4185824" y="3410"/>
                  </a:cubicBezTo>
                  <a:lnTo>
                    <a:pt x="4185824" y="377521"/>
                  </a:lnTo>
                  <a:cubicBezTo>
                    <a:pt x="4185824" y="378426"/>
                    <a:pt x="4185465" y="379293"/>
                    <a:pt x="4184825" y="379932"/>
                  </a:cubicBezTo>
                  <a:cubicBezTo>
                    <a:pt x="4184186" y="380572"/>
                    <a:pt x="4183318" y="380931"/>
                    <a:pt x="4182414" y="380931"/>
                  </a:cubicBezTo>
                  <a:lnTo>
                    <a:pt x="3410" y="380931"/>
                  </a:lnTo>
                  <a:cubicBezTo>
                    <a:pt x="2506" y="380931"/>
                    <a:pt x="1638" y="380572"/>
                    <a:pt x="999" y="379932"/>
                  </a:cubicBezTo>
                  <a:cubicBezTo>
                    <a:pt x="359" y="379293"/>
                    <a:pt x="0" y="378426"/>
                    <a:pt x="0" y="377521"/>
                  </a:cubicBezTo>
                  <a:lnTo>
                    <a:pt x="0" y="3410"/>
                  </a:lnTo>
                  <a:cubicBezTo>
                    <a:pt x="0" y="2506"/>
                    <a:pt x="359" y="1638"/>
                    <a:pt x="999" y="999"/>
                  </a:cubicBezTo>
                  <a:cubicBezTo>
                    <a:pt x="1638" y="359"/>
                    <a:pt x="2506" y="0"/>
                    <a:pt x="3410" y="0"/>
                  </a:cubicBezTo>
                  <a:close/>
                </a:path>
              </a:pathLst>
            </a:custGeom>
            <a:solidFill>
              <a:srgbClr val="C1C1C1"/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185824" cy="4380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179797" y="387512"/>
            <a:ext cx="10787539" cy="12073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578"/>
              </a:lnSpc>
              <a:spcBef>
                <a:spcPct val="0"/>
              </a:spcBef>
            </a:pPr>
            <a:r>
              <a:rPr lang="en-US" sz="6841" b="1" u="sng" strike="noStrike">
                <a:solidFill>
                  <a:srgbClr val="004A99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Algorithm of main() function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38516" y="1742937"/>
            <a:ext cx="17432550" cy="9548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Start the program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Load the saved account data;if file not found it creates a default account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Initialize attempt counter=0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Loop until correct PIN entered by user or attempts =3 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Ask for 4 digit PIN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Validate numeric input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If PIN matches then show welcome and break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else it increases attempts count and show attempts left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If attempts reached 3 then show that Account locked and exit the program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Loop until user selects Exit</a:t>
            </a:r>
          </a:p>
          <a:p>
            <a:pPr marL="867082" lvl="2" indent="-289027" algn="l">
              <a:lnSpc>
                <a:spcPts val="2811"/>
              </a:lnSpc>
              <a:buAutoNum type="alpha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Read menu choice</a:t>
            </a:r>
          </a:p>
          <a:p>
            <a:pPr marL="867082" lvl="2" indent="-289027" algn="l">
              <a:lnSpc>
                <a:spcPts val="2811"/>
              </a:lnSpc>
              <a:buAutoNum type="alpha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Call the required function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checkBalance()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depositMoney()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iii.withdrawMoney()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changePIN()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showHistory()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changeName()</a:t>
            </a:r>
          </a:p>
          <a:p>
            <a:pPr marL="1300624" lvl="3" indent="-325156" algn="l">
              <a:lnSpc>
                <a:spcPts val="2811"/>
              </a:lnSpc>
              <a:buAutoNum type="roman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resetAccount()</a:t>
            </a:r>
          </a:p>
          <a:p>
            <a:pPr marL="867082" lvl="2" indent="-289027" algn="l">
              <a:lnSpc>
                <a:spcPts val="2811"/>
              </a:lnSpc>
              <a:buAutoNum type="alphaL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Handle invalid choices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On exit show Thank You message</a:t>
            </a:r>
          </a:p>
          <a:p>
            <a:pPr marL="433541" lvl="1" indent="-216771" algn="l">
              <a:lnSpc>
                <a:spcPts val="2811"/>
              </a:lnSpc>
              <a:buAutoNum type="arabicPeriod"/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End</a:t>
            </a:r>
          </a:p>
          <a:p>
            <a:pPr algn="l">
              <a:lnSpc>
                <a:spcPts val="2811"/>
              </a:lnSpc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          </a:t>
            </a:r>
          </a:p>
          <a:p>
            <a:pPr algn="l">
              <a:lnSpc>
                <a:spcPts val="2811"/>
              </a:lnSpc>
            </a:pPr>
            <a:endParaRPr lang="en-US" sz="2008" b="1">
              <a:solidFill>
                <a:srgbClr val="004A99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2811"/>
              </a:lnSpc>
            </a:pPr>
            <a:r>
              <a:rPr lang="en-US" sz="2008" b="1">
                <a:solidFill>
                  <a:srgbClr val="004A99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         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627041" y="1800087"/>
            <a:ext cx="13691746" cy="8486913"/>
            <a:chOff x="0" y="0"/>
            <a:chExt cx="3606056" cy="223523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06057" cy="2235236"/>
            </a:xfrm>
            <a:custGeom>
              <a:avLst/>
              <a:gdLst/>
              <a:ahLst/>
              <a:cxnLst/>
              <a:rect l="l" t="t" r="r" b="b"/>
              <a:pathLst>
                <a:path w="3606057" h="2235236">
                  <a:moveTo>
                    <a:pt x="9613" y="0"/>
                  </a:moveTo>
                  <a:lnTo>
                    <a:pt x="3596444" y="0"/>
                  </a:lnTo>
                  <a:cubicBezTo>
                    <a:pt x="3598993" y="0"/>
                    <a:pt x="3601438" y="1013"/>
                    <a:pt x="3603241" y="2815"/>
                  </a:cubicBezTo>
                  <a:cubicBezTo>
                    <a:pt x="3605044" y="4618"/>
                    <a:pt x="3606057" y="7063"/>
                    <a:pt x="3606057" y="9613"/>
                  </a:cubicBezTo>
                  <a:lnTo>
                    <a:pt x="3606057" y="2225624"/>
                  </a:lnTo>
                  <a:cubicBezTo>
                    <a:pt x="3606057" y="2230933"/>
                    <a:pt x="3601753" y="2235236"/>
                    <a:pt x="3596444" y="2235236"/>
                  </a:cubicBezTo>
                  <a:lnTo>
                    <a:pt x="9613" y="2235236"/>
                  </a:lnTo>
                  <a:cubicBezTo>
                    <a:pt x="4304" y="2235236"/>
                    <a:pt x="0" y="2230933"/>
                    <a:pt x="0" y="2225624"/>
                  </a:cubicBezTo>
                  <a:lnTo>
                    <a:pt x="0" y="9613"/>
                  </a:lnTo>
                  <a:cubicBezTo>
                    <a:pt x="0" y="4304"/>
                    <a:pt x="4304" y="0"/>
                    <a:pt x="961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3606056" cy="2292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C1C1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26247" y="2786281"/>
            <a:ext cx="5448300" cy="6267450"/>
            <a:chOff x="0" y="0"/>
            <a:chExt cx="715512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15512" cy="823089"/>
            </a:xfrm>
            <a:custGeom>
              <a:avLst/>
              <a:gdLst/>
              <a:ahLst/>
              <a:cxnLst/>
              <a:rect l="l" t="t" r="r" b="b"/>
              <a:pathLst>
                <a:path w="715512" h="823089">
                  <a:moveTo>
                    <a:pt x="28420" y="0"/>
                  </a:moveTo>
                  <a:lnTo>
                    <a:pt x="687092" y="0"/>
                  </a:lnTo>
                  <a:cubicBezTo>
                    <a:pt x="702788" y="0"/>
                    <a:pt x="715512" y="12724"/>
                    <a:pt x="715512" y="28420"/>
                  </a:cubicBezTo>
                  <a:lnTo>
                    <a:pt x="715512" y="794669"/>
                  </a:lnTo>
                  <a:cubicBezTo>
                    <a:pt x="715512" y="802206"/>
                    <a:pt x="712518" y="809435"/>
                    <a:pt x="707188" y="814765"/>
                  </a:cubicBezTo>
                  <a:cubicBezTo>
                    <a:pt x="701858" y="820095"/>
                    <a:pt x="694630" y="823089"/>
                    <a:pt x="687092" y="823089"/>
                  </a:cubicBezTo>
                  <a:lnTo>
                    <a:pt x="28420" y="823089"/>
                  </a:lnTo>
                  <a:cubicBezTo>
                    <a:pt x="12724" y="823089"/>
                    <a:pt x="0" y="810365"/>
                    <a:pt x="0" y="794669"/>
                  </a:cubicBezTo>
                  <a:lnTo>
                    <a:pt x="0" y="28420"/>
                  </a:lnTo>
                  <a:cubicBezTo>
                    <a:pt x="0" y="12724"/>
                    <a:pt x="12724" y="0"/>
                    <a:pt x="28420" y="0"/>
                  </a:cubicBezTo>
                  <a:close/>
                </a:path>
              </a:pathLst>
            </a:custGeom>
            <a:blipFill>
              <a:blip r:embed="rId3"/>
              <a:stretch>
                <a:fillRect t="-103" b="-103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657225"/>
            <a:ext cx="169545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Scope of The Project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2974975"/>
            <a:ext cx="12172950" cy="5640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Simulates essential ATM functions for everyday banking</a:t>
            </a:r>
          </a:p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Allows secure login using a PIN with limited attempts</a:t>
            </a:r>
          </a:p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Supports balance check,deposit,withdrawal,PIN change,name update and reset account</a:t>
            </a:r>
          </a:p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Provides a mini transaction feature </a:t>
            </a:r>
          </a:p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Maintains data using file handling for storage</a:t>
            </a:r>
          </a:p>
          <a:p>
            <a:pPr marL="768620" lvl="1" indent="-384310" algn="ctr">
              <a:lnSpc>
                <a:spcPts val="4984"/>
              </a:lnSpc>
              <a:buFont typeface="Arial"/>
              <a:buChar char="•"/>
            </a:pPr>
            <a:r>
              <a:rPr lang="en-US" sz="3560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Focusses on reusability of functions and understanding C programming concepts taught to us</a:t>
            </a:r>
          </a:p>
          <a:p>
            <a:pPr algn="ctr">
              <a:lnSpc>
                <a:spcPts val="4984"/>
              </a:lnSpc>
            </a:pPr>
            <a:endParaRPr lang="en-US" sz="3560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287056" y="2869061"/>
            <a:ext cx="11885894" cy="6101891"/>
            <a:chOff x="0" y="0"/>
            <a:chExt cx="3130441" cy="160708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30441" cy="1607082"/>
            </a:xfrm>
            <a:custGeom>
              <a:avLst/>
              <a:gdLst/>
              <a:ahLst/>
              <a:cxnLst/>
              <a:rect l="l" t="t" r="r" b="b"/>
              <a:pathLst>
                <a:path w="3130441" h="1607082">
                  <a:moveTo>
                    <a:pt x="3257" y="0"/>
                  </a:moveTo>
                  <a:lnTo>
                    <a:pt x="3127185" y="0"/>
                  </a:lnTo>
                  <a:cubicBezTo>
                    <a:pt x="3128048" y="0"/>
                    <a:pt x="3128877" y="343"/>
                    <a:pt x="3129487" y="954"/>
                  </a:cubicBezTo>
                  <a:cubicBezTo>
                    <a:pt x="3130098" y="1565"/>
                    <a:pt x="3130441" y="2393"/>
                    <a:pt x="3130441" y="3257"/>
                  </a:cubicBezTo>
                  <a:lnTo>
                    <a:pt x="3130441" y="1603825"/>
                  </a:lnTo>
                  <a:cubicBezTo>
                    <a:pt x="3130441" y="1605624"/>
                    <a:pt x="3128983" y="1607082"/>
                    <a:pt x="3127185" y="1607082"/>
                  </a:cubicBezTo>
                  <a:lnTo>
                    <a:pt x="3257" y="1607082"/>
                  </a:lnTo>
                  <a:cubicBezTo>
                    <a:pt x="2393" y="1607082"/>
                    <a:pt x="1565" y="1606739"/>
                    <a:pt x="954" y="1606128"/>
                  </a:cubicBezTo>
                  <a:cubicBezTo>
                    <a:pt x="343" y="1605518"/>
                    <a:pt x="0" y="1604689"/>
                    <a:pt x="0" y="1603825"/>
                  </a:cubicBezTo>
                  <a:lnTo>
                    <a:pt x="0" y="3257"/>
                  </a:lnTo>
                  <a:cubicBezTo>
                    <a:pt x="0" y="2393"/>
                    <a:pt x="343" y="1565"/>
                    <a:pt x="954" y="954"/>
                  </a:cubicBezTo>
                  <a:cubicBezTo>
                    <a:pt x="1565" y="343"/>
                    <a:pt x="2393" y="0"/>
                    <a:pt x="325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AD"/>
              </a:solidFill>
              <a:prstDash val="lgDash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3130441" cy="16642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C1C1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82286" y="1028700"/>
            <a:ext cx="3756901" cy="6267450"/>
            <a:chOff x="0" y="0"/>
            <a:chExt cx="493385" cy="8230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3385" cy="823089"/>
            </a:xfrm>
            <a:custGeom>
              <a:avLst/>
              <a:gdLst/>
              <a:ahLst/>
              <a:cxnLst/>
              <a:rect l="l" t="t" r="r" b="b"/>
              <a:pathLst>
                <a:path w="493385" h="823089">
                  <a:moveTo>
                    <a:pt x="41214" y="0"/>
                  </a:moveTo>
                  <a:lnTo>
                    <a:pt x="452170" y="0"/>
                  </a:lnTo>
                  <a:cubicBezTo>
                    <a:pt x="474932" y="0"/>
                    <a:pt x="493385" y="18452"/>
                    <a:pt x="493385" y="41214"/>
                  </a:cubicBezTo>
                  <a:lnTo>
                    <a:pt x="493385" y="781874"/>
                  </a:lnTo>
                  <a:cubicBezTo>
                    <a:pt x="493385" y="804636"/>
                    <a:pt x="474932" y="823089"/>
                    <a:pt x="452170" y="823089"/>
                  </a:cubicBezTo>
                  <a:lnTo>
                    <a:pt x="41214" y="823089"/>
                  </a:lnTo>
                  <a:cubicBezTo>
                    <a:pt x="18452" y="823089"/>
                    <a:pt x="0" y="804636"/>
                    <a:pt x="0" y="781874"/>
                  </a:cubicBezTo>
                  <a:lnTo>
                    <a:pt x="0" y="41214"/>
                  </a:lnTo>
                  <a:cubicBezTo>
                    <a:pt x="0" y="18452"/>
                    <a:pt x="18452" y="0"/>
                    <a:pt x="41214" y="0"/>
                  </a:cubicBezTo>
                  <a:close/>
                </a:path>
              </a:pathLst>
            </a:custGeom>
            <a:blipFill>
              <a:blip r:embed="rId3"/>
              <a:stretch>
                <a:fillRect l="-100632" r="-100632"/>
              </a:stretch>
            </a:blipFill>
          </p:spPr>
        </p:sp>
      </p:grpSp>
      <p:sp>
        <p:nvSpPr>
          <p:cNvPr id="7" name="TextBox 7"/>
          <p:cNvSpPr txBox="1"/>
          <p:nvPr/>
        </p:nvSpPr>
        <p:spPr>
          <a:xfrm>
            <a:off x="666750" y="657225"/>
            <a:ext cx="169545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u="sng" spc="-240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Major Functions Used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0" y="3793282"/>
            <a:ext cx="17873782" cy="5559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checkBalance()-displays current account balance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depositMoney() -adds money to balance and updates history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withdrawMoney()-it deducts the amount and checks sufficient balance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changePin()-updates PIN with confirmation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changeName()-used to update account holder’s name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showHistory()-to show mini transaction history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saveToFile()-to save account data permanently to account.txt file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loadFromFile()- to load the saved data and if not present it loads default values</a:t>
            </a:r>
          </a:p>
          <a:p>
            <a:pPr marL="755642" lvl="1" indent="-377821" algn="just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resetAccount()-clears data of account.txt &amp; deletes all transactions and resets to default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CE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200025"/>
            <a:ext cx="18288000" cy="2457450"/>
            <a:chOff x="0" y="0"/>
            <a:chExt cx="4816593" cy="64723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647230"/>
            </a:xfrm>
            <a:custGeom>
              <a:avLst/>
              <a:gdLst/>
              <a:ahLst/>
              <a:cxnLst/>
              <a:rect l="l" t="t" r="r" b="b"/>
              <a:pathLst>
                <a:path w="4816592" h="647230">
                  <a:moveTo>
                    <a:pt x="0" y="0"/>
                  </a:moveTo>
                  <a:lnTo>
                    <a:pt x="4816592" y="0"/>
                  </a:lnTo>
                  <a:lnTo>
                    <a:pt x="4816592" y="647230"/>
                  </a:lnTo>
                  <a:lnTo>
                    <a:pt x="0" y="647230"/>
                  </a:lnTo>
                  <a:close/>
                </a:path>
              </a:pathLst>
            </a:custGeom>
            <a:solidFill>
              <a:srgbClr val="C1C1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7043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783504"/>
            <a:ext cx="16954500" cy="1069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004A99"/>
                </a:solidFill>
                <a:latin typeface="Georgia Pro Condensed"/>
                <a:ea typeface="Georgia Pro Condensed"/>
                <a:cs typeface="Georgia Pro Condensed"/>
                <a:sym typeface="Georgia Pro Condensed"/>
              </a:rPr>
              <a:t>A short Flowchart of main( )  function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496597"/>
            <a:ext cx="14960923" cy="1305316"/>
            <a:chOff x="0" y="0"/>
            <a:chExt cx="3940325" cy="34378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940325" cy="343787"/>
            </a:xfrm>
            <a:custGeom>
              <a:avLst/>
              <a:gdLst/>
              <a:ahLst/>
              <a:cxnLst/>
              <a:rect l="l" t="t" r="r" b="b"/>
              <a:pathLst>
                <a:path w="3940325" h="343787">
                  <a:moveTo>
                    <a:pt x="8797" y="0"/>
                  </a:moveTo>
                  <a:lnTo>
                    <a:pt x="3931528" y="0"/>
                  </a:lnTo>
                  <a:cubicBezTo>
                    <a:pt x="3933861" y="0"/>
                    <a:pt x="3936099" y="927"/>
                    <a:pt x="3937749" y="2577"/>
                  </a:cubicBezTo>
                  <a:cubicBezTo>
                    <a:pt x="3939399" y="4226"/>
                    <a:pt x="3940325" y="6464"/>
                    <a:pt x="3940325" y="8797"/>
                  </a:cubicBezTo>
                  <a:lnTo>
                    <a:pt x="3940325" y="334990"/>
                  </a:lnTo>
                  <a:cubicBezTo>
                    <a:pt x="3940325" y="337323"/>
                    <a:pt x="3939399" y="339561"/>
                    <a:pt x="3937749" y="341210"/>
                  </a:cubicBezTo>
                  <a:cubicBezTo>
                    <a:pt x="3936099" y="342860"/>
                    <a:pt x="3933861" y="343787"/>
                    <a:pt x="3931528" y="343787"/>
                  </a:cubicBezTo>
                  <a:lnTo>
                    <a:pt x="8797" y="343787"/>
                  </a:lnTo>
                  <a:cubicBezTo>
                    <a:pt x="3939" y="343787"/>
                    <a:pt x="0" y="339848"/>
                    <a:pt x="0" y="334990"/>
                  </a:cubicBezTo>
                  <a:lnTo>
                    <a:pt x="0" y="8797"/>
                  </a:lnTo>
                  <a:cubicBezTo>
                    <a:pt x="0" y="6464"/>
                    <a:pt x="927" y="4226"/>
                    <a:pt x="2577" y="2577"/>
                  </a:cubicBezTo>
                  <a:cubicBezTo>
                    <a:pt x="4226" y="927"/>
                    <a:pt x="6464" y="0"/>
                    <a:pt x="879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AD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3940325" cy="4009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929442" y="1801914"/>
            <a:ext cx="3803094" cy="5220284"/>
          </a:xfrm>
          <a:custGeom>
            <a:avLst/>
            <a:gdLst/>
            <a:ahLst/>
            <a:cxnLst/>
            <a:rect l="l" t="t" r="r" b="b"/>
            <a:pathLst>
              <a:path w="3803094" h="5220284">
                <a:moveTo>
                  <a:pt x="0" y="0"/>
                </a:moveTo>
                <a:lnTo>
                  <a:pt x="3803094" y="0"/>
                </a:lnTo>
                <a:lnTo>
                  <a:pt x="3803094" y="5220284"/>
                </a:lnTo>
                <a:lnTo>
                  <a:pt x="0" y="5220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534915" y="2257425"/>
            <a:ext cx="6464770" cy="8029575"/>
          </a:xfrm>
          <a:custGeom>
            <a:avLst/>
            <a:gdLst/>
            <a:ahLst/>
            <a:cxnLst/>
            <a:rect l="l" t="t" r="r" b="b"/>
            <a:pathLst>
              <a:path w="6464770" h="8029575">
                <a:moveTo>
                  <a:pt x="0" y="0"/>
                </a:moveTo>
                <a:lnTo>
                  <a:pt x="6464770" y="0"/>
                </a:lnTo>
                <a:lnTo>
                  <a:pt x="6464770" y="8029575"/>
                </a:lnTo>
                <a:lnTo>
                  <a:pt x="0" y="80295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3306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628156"/>
            <a:chOff x="0" y="0"/>
            <a:chExt cx="4816593" cy="4288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428815"/>
            </a:xfrm>
            <a:custGeom>
              <a:avLst/>
              <a:gdLst/>
              <a:ahLst/>
              <a:cxnLst/>
              <a:rect l="l" t="t" r="r" b="b"/>
              <a:pathLst>
                <a:path w="4816592" h="428815">
                  <a:moveTo>
                    <a:pt x="0" y="0"/>
                  </a:moveTo>
                  <a:lnTo>
                    <a:pt x="4816592" y="0"/>
                  </a:lnTo>
                  <a:lnTo>
                    <a:pt x="4816592" y="428815"/>
                  </a:lnTo>
                  <a:lnTo>
                    <a:pt x="0" y="428815"/>
                  </a:lnTo>
                  <a:close/>
                </a:path>
              </a:pathLst>
            </a:custGeom>
            <a:solidFill>
              <a:srgbClr val="C1C1C1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4859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66750" y="657225"/>
            <a:ext cx="16954500" cy="1222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000"/>
              </a:lnSpc>
            </a:pPr>
            <a:r>
              <a:rPr lang="en-US" sz="8000" spc="-240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9161372"/>
              </p:ext>
            </p:extLst>
          </p:nvPr>
        </p:nvGraphicFramePr>
        <p:xfrm>
          <a:off x="666750" y="1635776"/>
          <a:ext cx="15182849" cy="8562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07215"/>
                <a:gridCol w="3135785"/>
                <a:gridCol w="3824535"/>
                <a:gridCol w="2991670"/>
                <a:gridCol w="1923644"/>
              </a:tblGrid>
              <a:tr h="452195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Test Case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What I tested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What I expected to Happen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What Actually Happened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Result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26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1.Correct PIN Entry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PIN=correct    value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Login successful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Login successful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52843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2.Incorrect PIN Entry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PIN=wrong value</a:t>
                      </a:r>
                      <a:endParaRPr lang="en-IN" sz="1800" dirty="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(3 times)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Access Denied after 3 attempts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Access denied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3.Deposit Valid Amount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Deposit=500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 increases by 500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 updated correctly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4. Deposit Invalid Amount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Deposit=-50 or 0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Show error message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Error shown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7926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5.Withdraw Valid amount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Withdraw=</a:t>
                      </a:r>
                      <a:endParaRPr lang="en-IN" sz="18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amount&lt;=</a:t>
                      </a:r>
                      <a:endParaRPr lang="en-IN" sz="1800">
                        <a:effectLst/>
                      </a:endParaRP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 reduced correctly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Works as expected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540166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6.Withdraw More than Balance</a:t>
                      </a:r>
                      <a:endParaRPr lang="en-IN" sz="1800" dirty="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Withdraw&gt;</a:t>
                      </a:r>
                      <a:endParaRPr lang="en-IN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Show insufficient balance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Error Shown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7.Check Balance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Select balance option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Display current balance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 displayed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26881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8.Change PIN(valid)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Enter new Valid PIN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PIN updated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PIN updated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792654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9.Change PIN (invalid)</a:t>
                      </a:r>
                      <a:endParaRPr lang="en-IN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IN" sz="1800">
                        <a:effectLst/>
                      </a:endParaRPr>
                    </a:p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Entering mismatched pin in retyping pin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Should show error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Error message shown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10.Save Data to file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Select save option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File should be created/updated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File saved successfully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11.Load Data from file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Select Load option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Data should load correctly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Data loaded successfully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12.Mini Transaction History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Performing few operations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Should show last few transactions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Correct list displayed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81328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13.Change account holder name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Entering a new valid name 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Should update the name when a valid name is entered and save to file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Name updated to new name and saved in account.txt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Pass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40361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14.Reset Account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Select Reset option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Balance and PIN reset to default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Reset successful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Pass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  <a:tr h="94983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15.Exit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Selecting exit option from main menu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Program shouls terminate gracefully with a thank you message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>
                          <a:effectLst/>
                        </a:rPr>
                        <a:t>Program exited successfully and displayed expected message</a:t>
                      </a:r>
                      <a:endParaRPr lang="en-IN" sz="180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0" algn="l"/>
                        </a:tabLst>
                      </a:pPr>
                      <a:r>
                        <a:rPr lang="en-US" sz="1800" dirty="0">
                          <a:effectLst/>
                        </a:rPr>
                        <a:t>Pass</a:t>
                      </a:r>
                      <a:endParaRPr lang="en-IN" sz="1800" dirty="0">
                        <a:effectLst/>
                        <a:latin typeface="Calibri"/>
                        <a:ea typeface="Calibri"/>
                        <a:cs typeface="Mangal"/>
                      </a:endParaRPr>
                    </a:p>
                  </a:txBody>
                  <a:tcPr marL="18752" marR="18752" marT="0" marB="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460046" y="2645326"/>
            <a:ext cx="16799254" cy="630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case-1 screenshot : Correct PIN Entry</a:t>
            </a: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261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Explanation: The user entered the correct PIN .The system verified it successfully and displayed the welcome message along with account details.</a:t>
            </a:r>
          </a:p>
        </p:txBody>
      </p:sp>
      <p:sp>
        <p:nvSpPr>
          <p:cNvPr id="4" name="Freeform 4"/>
          <p:cNvSpPr/>
          <p:nvPr/>
        </p:nvSpPr>
        <p:spPr>
          <a:xfrm>
            <a:off x="2470941" y="3558631"/>
            <a:ext cx="8766733" cy="3428387"/>
          </a:xfrm>
          <a:custGeom>
            <a:avLst/>
            <a:gdLst/>
            <a:ahLst/>
            <a:cxnLst/>
            <a:rect l="l" t="t" r="r" b="b"/>
            <a:pathLst>
              <a:path w="8766733" h="3428387">
                <a:moveTo>
                  <a:pt x="0" y="0"/>
                </a:moveTo>
                <a:lnTo>
                  <a:pt x="8766733" y="0"/>
                </a:lnTo>
                <a:lnTo>
                  <a:pt x="8766733" y="3428387"/>
                </a:lnTo>
                <a:lnTo>
                  <a:pt x="0" y="34283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649" r="-48500" b="-6237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653844"/>
            <a:ext cx="14939445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Some screenshots of the outputs (1)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460046" y="2730991"/>
            <a:ext cx="16799254" cy="66479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case-2 screenshot : Incorrect PIN Entry</a:t>
            </a: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76"/>
              </a:lnSpc>
              <a:spcBef>
                <a:spcPct val="0"/>
              </a:spcBef>
            </a:pPr>
            <a:r>
              <a:rPr lang="en-US" sz="376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Explanation: The user entered an incorrect PIN three times. After the third attempt,the system denied access and displayed an account lock warning.</a:t>
            </a:r>
          </a:p>
          <a:p>
            <a:pPr algn="ctr">
              <a:lnSpc>
                <a:spcPts val="5276"/>
              </a:lnSpc>
              <a:spcBef>
                <a:spcPct val="0"/>
              </a:spcBef>
            </a:pPr>
            <a:endParaRPr lang="en-US" sz="376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4976005" y="3431909"/>
            <a:ext cx="6668165" cy="4288820"/>
          </a:xfrm>
          <a:custGeom>
            <a:avLst/>
            <a:gdLst/>
            <a:ahLst/>
            <a:cxnLst/>
            <a:rect l="l" t="t" r="r" b="b"/>
            <a:pathLst>
              <a:path w="6668165" h="4288820">
                <a:moveTo>
                  <a:pt x="0" y="0"/>
                </a:moveTo>
                <a:lnTo>
                  <a:pt x="6668166" y="0"/>
                </a:lnTo>
                <a:lnTo>
                  <a:pt x="6668166" y="4288820"/>
                </a:lnTo>
                <a:lnTo>
                  <a:pt x="0" y="4288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653844"/>
            <a:ext cx="14939445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Some screenshots of the outputs (2)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66483" y="2307179"/>
            <a:ext cx="10961570" cy="9233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case-5 screenshot : Withdraw Valid amount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Explanation:The user a valid amount within the available balance.The balance decreased accordingly and a receipt was optionally displayed.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080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2757714" y="1786892"/>
            <a:ext cx="5153364" cy="8500108"/>
          </a:xfrm>
          <a:custGeom>
            <a:avLst/>
            <a:gdLst/>
            <a:ahLst/>
            <a:cxnLst/>
            <a:rect l="l" t="t" r="r" b="b"/>
            <a:pathLst>
              <a:path w="5153364" h="8500108">
                <a:moveTo>
                  <a:pt x="0" y="0"/>
                </a:moveTo>
                <a:lnTo>
                  <a:pt x="5153364" y="0"/>
                </a:lnTo>
                <a:lnTo>
                  <a:pt x="5153364" y="8500108"/>
                </a:lnTo>
                <a:lnTo>
                  <a:pt x="0" y="8500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4" r="-11141" b="-5171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0" y="653844"/>
            <a:ext cx="14939445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Some screenshots of the outputs (3)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1500396" y="2562571"/>
            <a:ext cx="4689119" cy="7276333"/>
          </a:xfrm>
          <a:custGeom>
            <a:avLst/>
            <a:gdLst/>
            <a:ahLst/>
            <a:cxnLst/>
            <a:rect l="l" t="t" r="r" b="b"/>
            <a:pathLst>
              <a:path w="4689119" h="7276333">
                <a:moveTo>
                  <a:pt x="0" y="0"/>
                </a:moveTo>
                <a:lnTo>
                  <a:pt x="4689119" y="0"/>
                </a:lnTo>
                <a:lnTo>
                  <a:pt x="4689119" y="7276333"/>
                </a:lnTo>
                <a:lnTo>
                  <a:pt x="0" y="72763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86" r="-188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66483" y="2307179"/>
            <a:ext cx="8905632" cy="7668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15"/>
              </a:lnSpc>
              <a:spcBef>
                <a:spcPct val="0"/>
              </a:spcBef>
            </a:pPr>
            <a:r>
              <a:rPr lang="en-US" sz="3725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Test case-7 screenshot : Check Balance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7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4655"/>
              </a:lnSpc>
              <a:spcBef>
                <a:spcPct val="0"/>
              </a:spcBef>
            </a:pPr>
            <a:r>
              <a:rPr lang="en-US" sz="3325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Explanation:The User selected the Check Balance option and the current was displayed correctly.</a:t>
            </a: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3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  <a:p>
            <a:pPr algn="ctr">
              <a:lnSpc>
                <a:spcPts val="5215"/>
              </a:lnSpc>
              <a:spcBef>
                <a:spcPct val="0"/>
              </a:spcBef>
            </a:pPr>
            <a:endParaRPr lang="en-US" sz="3325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653844"/>
            <a:ext cx="14939445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Some screenshots of the outputs (4)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5913264" y="5143500"/>
            <a:ext cx="11827275" cy="5143500"/>
          </a:xfrm>
          <a:custGeom>
            <a:avLst/>
            <a:gdLst/>
            <a:ahLst/>
            <a:cxnLst/>
            <a:rect l="l" t="t" r="r" b="b"/>
            <a:pathLst>
              <a:path w="11827275" h="5143500">
                <a:moveTo>
                  <a:pt x="0" y="0"/>
                </a:moveTo>
                <a:lnTo>
                  <a:pt x="11827275" y="0"/>
                </a:lnTo>
                <a:lnTo>
                  <a:pt x="11827275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71" r="-461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26131" y="2307179"/>
            <a:ext cx="11174265" cy="5015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5084" lvl="1" indent="-382542" algn="l">
              <a:lnSpc>
                <a:spcPts val="4961"/>
              </a:lnSpc>
              <a:buFont typeface="Arial"/>
              <a:buChar char="•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Run ATM program live on VS code</a:t>
            </a:r>
          </a:p>
          <a:p>
            <a:pPr marL="765084" lvl="1" indent="-382542" algn="l">
              <a:lnSpc>
                <a:spcPts val="4961"/>
              </a:lnSpc>
              <a:buFont typeface="Arial"/>
              <a:buChar char="•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Key Functions to demostrate</a:t>
            </a:r>
          </a:p>
          <a:p>
            <a:pPr marL="1530169" lvl="2" indent="-510056" algn="l">
              <a:lnSpc>
                <a:spcPts val="4961"/>
              </a:lnSpc>
              <a:buFont typeface="Arial"/>
              <a:buChar char="⚬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withdrawMoney() and DepositMoney()</a:t>
            </a:r>
          </a:p>
          <a:p>
            <a:pPr marL="1530169" lvl="2" indent="-510056" algn="l">
              <a:lnSpc>
                <a:spcPts val="4961"/>
              </a:lnSpc>
              <a:buFont typeface="Arial"/>
              <a:buChar char="⚬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checkBalance(),resetAccount(),changePIN(),changeName()</a:t>
            </a:r>
          </a:p>
          <a:p>
            <a:pPr marL="1530169" lvl="2" indent="-510056" algn="l">
              <a:lnSpc>
                <a:spcPts val="4961"/>
              </a:lnSpc>
              <a:buFont typeface="Arial"/>
              <a:buChar char="⚬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Login/PIN validation</a:t>
            </a:r>
          </a:p>
          <a:p>
            <a:pPr marL="765084" lvl="1" indent="-382542" algn="l">
              <a:lnSpc>
                <a:spcPts val="4961"/>
              </a:lnSpc>
              <a:buFont typeface="Arial"/>
              <a:buChar char="•"/>
            </a:pPr>
            <a:r>
              <a:rPr lang="en-US" sz="3543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Input/Output behaviour</a:t>
            </a:r>
          </a:p>
          <a:p>
            <a:pPr algn="l">
              <a:lnSpc>
                <a:spcPts val="4961"/>
              </a:lnSpc>
            </a:pPr>
            <a:endParaRPr lang="en-US" sz="3543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0" y="653844"/>
            <a:ext cx="14939445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 u="sng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Working Code Demonstration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947089" y="552796"/>
            <a:ext cx="11980588" cy="1396837"/>
            <a:chOff x="0" y="0"/>
            <a:chExt cx="3155381" cy="36789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55381" cy="367891"/>
            </a:xfrm>
            <a:custGeom>
              <a:avLst/>
              <a:gdLst/>
              <a:ahLst/>
              <a:cxnLst/>
              <a:rect l="l" t="t" r="r" b="b"/>
              <a:pathLst>
                <a:path w="3155381" h="367891">
                  <a:moveTo>
                    <a:pt x="10985" y="0"/>
                  </a:moveTo>
                  <a:lnTo>
                    <a:pt x="3144396" y="0"/>
                  </a:lnTo>
                  <a:cubicBezTo>
                    <a:pt x="3150463" y="0"/>
                    <a:pt x="3155381" y="4918"/>
                    <a:pt x="3155381" y="10985"/>
                  </a:cubicBezTo>
                  <a:lnTo>
                    <a:pt x="3155381" y="356906"/>
                  </a:lnTo>
                  <a:cubicBezTo>
                    <a:pt x="3155381" y="359819"/>
                    <a:pt x="3154224" y="362613"/>
                    <a:pt x="3152164" y="364674"/>
                  </a:cubicBezTo>
                  <a:cubicBezTo>
                    <a:pt x="3150103" y="366734"/>
                    <a:pt x="3147309" y="367891"/>
                    <a:pt x="3144396" y="367891"/>
                  </a:cubicBezTo>
                  <a:lnTo>
                    <a:pt x="10985" y="367891"/>
                  </a:lnTo>
                  <a:cubicBezTo>
                    <a:pt x="4918" y="367891"/>
                    <a:pt x="0" y="362973"/>
                    <a:pt x="0" y="356906"/>
                  </a:cubicBezTo>
                  <a:lnTo>
                    <a:pt x="0" y="10985"/>
                  </a:lnTo>
                  <a:cubicBezTo>
                    <a:pt x="0" y="4918"/>
                    <a:pt x="4918" y="0"/>
                    <a:pt x="10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3155381" cy="405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2095846"/>
            <a:ext cx="1848686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428383" y="544656"/>
            <a:ext cx="14939445" cy="1084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 b="1" u="sng">
                <a:solidFill>
                  <a:srgbClr val="004AAD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Novelty and Contributions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985960" y="546814"/>
            <a:ext cx="10316080" cy="1299223"/>
            <a:chOff x="0" y="0"/>
            <a:chExt cx="2716992" cy="3421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716992" cy="342182"/>
            </a:xfrm>
            <a:custGeom>
              <a:avLst/>
              <a:gdLst/>
              <a:ahLst/>
              <a:cxnLst/>
              <a:rect l="l" t="t" r="r" b="b"/>
              <a:pathLst>
                <a:path w="2716992" h="342182">
                  <a:moveTo>
                    <a:pt x="12758" y="0"/>
                  </a:moveTo>
                  <a:lnTo>
                    <a:pt x="2704234" y="0"/>
                  </a:lnTo>
                  <a:cubicBezTo>
                    <a:pt x="2711280" y="0"/>
                    <a:pt x="2716992" y="5712"/>
                    <a:pt x="2716992" y="12758"/>
                  </a:cubicBezTo>
                  <a:lnTo>
                    <a:pt x="2716992" y="329424"/>
                  </a:lnTo>
                  <a:cubicBezTo>
                    <a:pt x="2716992" y="336470"/>
                    <a:pt x="2711280" y="342182"/>
                    <a:pt x="2704234" y="342182"/>
                  </a:cubicBezTo>
                  <a:lnTo>
                    <a:pt x="12758" y="342182"/>
                  </a:lnTo>
                  <a:cubicBezTo>
                    <a:pt x="5712" y="342182"/>
                    <a:pt x="0" y="336470"/>
                    <a:pt x="0" y="329424"/>
                  </a:cubicBezTo>
                  <a:lnTo>
                    <a:pt x="0" y="12758"/>
                  </a:lnTo>
                  <a:cubicBezTo>
                    <a:pt x="0" y="5712"/>
                    <a:pt x="5712" y="0"/>
                    <a:pt x="1275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716992" cy="3802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19923" y="3294367"/>
            <a:ext cx="13402357" cy="638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 added a Reset Account feature  that clears all the data and transaction history ,and put default values for easy testing.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 also with help of file handling implemented a Mini Transaction History using history.txt,similar to a real ATM mini statement.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 added an optional receipt printing for deposits and withdrawal to make it feel real life based.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 used file handling so ATM remembers the user detail even after prog. terminates.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 added strong input validation like invalid amount checks and PIN mismatching handling.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Included low balance warnings on screen </a:t>
            </a:r>
          </a:p>
          <a:p>
            <a:pPr marL="659213" lvl="1" indent="-329606" algn="l">
              <a:lnSpc>
                <a:spcPts val="4274"/>
              </a:lnSpc>
              <a:buFont typeface="Arial"/>
              <a:buChar char="•"/>
            </a:pPr>
            <a:r>
              <a:rPr lang="en-US" sz="3053">
                <a:solidFill>
                  <a:srgbClr val="004AAD"/>
                </a:solidFill>
                <a:latin typeface="Canva Sans"/>
                <a:ea typeface="Canva Sans"/>
                <a:cs typeface="Canva Sans"/>
                <a:sym typeface="Canva Sans"/>
              </a:rPr>
              <a:t>Used modular functions for clear and easy to understand code. </a:t>
            </a:r>
          </a:p>
        </p:txBody>
      </p:sp>
      <p:sp>
        <p:nvSpPr>
          <p:cNvPr id="8" name="Freeform 8"/>
          <p:cNvSpPr/>
          <p:nvPr/>
        </p:nvSpPr>
        <p:spPr>
          <a:xfrm>
            <a:off x="13622280" y="4102520"/>
            <a:ext cx="4639934" cy="3821489"/>
          </a:xfrm>
          <a:custGeom>
            <a:avLst/>
            <a:gdLst/>
            <a:ahLst/>
            <a:cxnLst/>
            <a:rect l="l" t="t" r="r" b="b"/>
            <a:pathLst>
              <a:path w="4639934" h="3821489">
                <a:moveTo>
                  <a:pt x="0" y="0"/>
                </a:moveTo>
                <a:lnTo>
                  <a:pt x="4639934" y="0"/>
                </a:lnTo>
                <a:lnTo>
                  <a:pt x="4639934" y="3821489"/>
                </a:lnTo>
                <a:lnTo>
                  <a:pt x="0" y="382148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060" b="-1685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7858125" cy="10287000"/>
            <a:chOff x="0" y="0"/>
            <a:chExt cx="1031988" cy="135096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31988" cy="1350966"/>
            </a:xfrm>
            <a:custGeom>
              <a:avLst/>
              <a:gdLst/>
              <a:ahLst/>
              <a:cxnLst/>
              <a:rect l="l" t="t" r="r" b="b"/>
              <a:pathLst>
                <a:path w="1031988" h="1350966">
                  <a:moveTo>
                    <a:pt x="0" y="0"/>
                  </a:moveTo>
                  <a:lnTo>
                    <a:pt x="1031988" y="0"/>
                  </a:lnTo>
                  <a:lnTo>
                    <a:pt x="1031988" y="1350966"/>
                  </a:lnTo>
                  <a:lnTo>
                    <a:pt x="0" y="1350966"/>
                  </a:lnTo>
                  <a:close/>
                </a:path>
              </a:pathLst>
            </a:custGeom>
            <a:blipFill>
              <a:blip r:embed="rId3"/>
              <a:stretch>
                <a:fillRect l="-49258" r="-49258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303759" y="666750"/>
            <a:ext cx="8317491" cy="145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</a:pPr>
            <a:r>
              <a:rPr lang="en-US" sz="9557" spc="-334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708025" y="2411372"/>
            <a:ext cx="9311796" cy="6856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1866" lvl="1" indent="-335933" algn="ctr">
              <a:lnSpc>
                <a:spcPts val="4356"/>
              </a:lnSpc>
              <a:buFont typeface="Arial"/>
              <a:buChar char="•"/>
            </a:pPr>
            <a:r>
              <a:rPr lang="en-US" sz="3111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ATM simulator helped me understand real-world banking systems</a:t>
            </a:r>
          </a:p>
          <a:p>
            <a:pPr marL="644643" lvl="1" indent="-322321" algn="ctr">
              <a:lnSpc>
                <a:spcPts val="4180"/>
              </a:lnSpc>
              <a:buFont typeface="Arial"/>
              <a:buChar char="•"/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Breaking the program into reusable functions emphasized modular programming</a:t>
            </a:r>
          </a:p>
          <a:p>
            <a:pPr marL="644643" lvl="1" indent="-322321" algn="ctr">
              <a:lnSpc>
                <a:spcPts val="4180"/>
              </a:lnSpc>
              <a:buFont typeface="Arial"/>
              <a:buChar char="•"/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 implemented features:balance check,deposit/withdrawal,PIN change,mini transcation history,file handling and reset account</a:t>
            </a:r>
          </a:p>
          <a:p>
            <a:pPr marL="644643" lvl="1" indent="-322321" algn="ctr">
              <a:lnSpc>
                <a:spcPts val="4180"/>
              </a:lnSpc>
              <a:buFont typeface="Arial"/>
              <a:buChar char="•"/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Tried to apply all concepts</a:t>
            </a:r>
          </a:p>
          <a:p>
            <a:pPr algn="ctr">
              <a:lnSpc>
                <a:spcPts val="4180"/>
              </a:lnSpc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taught so far </a:t>
            </a:r>
          </a:p>
          <a:p>
            <a:pPr marL="644643" lvl="1" indent="-322321" algn="ctr">
              <a:lnSpc>
                <a:spcPts val="4180"/>
              </a:lnSpc>
              <a:buFont typeface="Arial"/>
              <a:buChar char="•"/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boosted my confidence and showed how programming solves real-life problems</a:t>
            </a:r>
          </a:p>
          <a:p>
            <a:pPr marL="644643" lvl="1" indent="-322321" algn="ctr">
              <a:lnSpc>
                <a:spcPts val="4180"/>
              </a:lnSpc>
              <a:buFont typeface="Arial"/>
              <a:buChar char="•"/>
            </a:pPr>
            <a:r>
              <a:rPr lang="en-US" sz="2985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Thanks to our Professor Dr.Prashant Trivedi for his continuous guidance and support.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46191" y="4500155"/>
            <a:ext cx="8694320" cy="5346514"/>
          </a:xfrm>
          <a:custGeom>
            <a:avLst/>
            <a:gdLst/>
            <a:ahLst/>
            <a:cxnLst/>
            <a:rect l="l" t="t" r="r" b="b"/>
            <a:pathLst>
              <a:path w="8694320" h="5346514">
                <a:moveTo>
                  <a:pt x="0" y="0"/>
                </a:moveTo>
                <a:lnTo>
                  <a:pt x="8694320" y="0"/>
                </a:lnTo>
                <a:lnTo>
                  <a:pt x="8694320" y="5346514"/>
                </a:lnTo>
                <a:lnTo>
                  <a:pt x="0" y="5346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714" r="-9714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666750"/>
            <a:ext cx="8317491" cy="1452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557"/>
              </a:lnSpc>
            </a:pPr>
            <a:r>
              <a:rPr lang="en-US" sz="9557" spc="-334">
                <a:solidFill>
                  <a:srgbClr val="004A99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References: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63761" y="2700416"/>
            <a:ext cx="15248629" cy="30525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32477" lvl="1" indent="-466239" algn="l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Let Us C Book by Yashavant Kanetkar</a:t>
            </a:r>
          </a:p>
          <a:p>
            <a:pPr marL="932477" lvl="1" indent="-466239" algn="l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Class materials and lecture notes provided by my Professor</a:t>
            </a:r>
          </a:p>
          <a:p>
            <a:pPr marL="932477" lvl="1" indent="-466239" algn="l">
              <a:lnSpc>
                <a:spcPts val="6046"/>
              </a:lnSpc>
              <a:buFont typeface="Arial"/>
              <a:buChar char="•"/>
            </a:pPr>
            <a:r>
              <a:rPr lang="en-US" sz="4319">
                <a:solidFill>
                  <a:srgbClr val="004A99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GeeksforGeeks</a:t>
            </a:r>
          </a:p>
          <a:p>
            <a:pPr algn="l">
              <a:lnSpc>
                <a:spcPts val="6046"/>
              </a:lnSpc>
            </a:pPr>
            <a:endParaRPr lang="en-US" sz="4319">
              <a:solidFill>
                <a:srgbClr val="004A99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C5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644238"/>
            <a:ext cx="11802208" cy="97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51"/>
              </a:lnSpc>
              <a:spcBef>
                <a:spcPct val="0"/>
              </a:spcBef>
            </a:pPr>
            <a:r>
              <a:rPr lang="en-US" sz="56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Appendix:code of some functions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373890" y="488376"/>
            <a:ext cx="11111828" cy="1405713"/>
            <a:chOff x="0" y="0"/>
            <a:chExt cx="2926572" cy="37022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26572" cy="370229"/>
            </a:xfrm>
            <a:custGeom>
              <a:avLst/>
              <a:gdLst/>
              <a:ahLst/>
              <a:cxnLst/>
              <a:rect l="l" t="t" r="r" b="b"/>
              <a:pathLst>
                <a:path w="2926572" h="370229">
                  <a:moveTo>
                    <a:pt x="11844" y="0"/>
                  </a:moveTo>
                  <a:lnTo>
                    <a:pt x="2914728" y="0"/>
                  </a:lnTo>
                  <a:cubicBezTo>
                    <a:pt x="2921269" y="0"/>
                    <a:pt x="2926572" y="5303"/>
                    <a:pt x="2926572" y="11844"/>
                  </a:cubicBezTo>
                  <a:lnTo>
                    <a:pt x="2926572" y="358385"/>
                  </a:lnTo>
                  <a:cubicBezTo>
                    <a:pt x="2926572" y="361526"/>
                    <a:pt x="2925324" y="364539"/>
                    <a:pt x="2923103" y="366760"/>
                  </a:cubicBezTo>
                  <a:cubicBezTo>
                    <a:pt x="2920882" y="368981"/>
                    <a:pt x="2917869" y="370229"/>
                    <a:pt x="2914728" y="370229"/>
                  </a:cubicBezTo>
                  <a:lnTo>
                    <a:pt x="11844" y="370229"/>
                  </a:lnTo>
                  <a:cubicBezTo>
                    <a:pt x="8703" y="370229"/>
                    <a:pt x="5690" y="368981"/>
                    <a:pt x="3469" y="366760"/>
                  </a:cubicBezTo>
                  <a:cubicBezTo>
                    <a:pt x="1248" y="364539"/>
                    <a:pt x="0" y="361526"/>
                    <a:pt x="0" y="358385"/>
                  </a:cubicBezTo>
                  <a:lnTo>
                    <a:pt x="0" y="11844"/>
                  </a:lnTo>
                  <a:cubicBezTo>
                    <a:pt x="0" y="8703"/>
                    <a:pt x="1248" y="5690"/>
                    <a:pt x="3469" y="3469"/>
                  </a:cubicBezTo>
                  <a:cubicBezTo>
                    <a:pt x="5690" y="1248"/>
                    <a:pt x="8703" y="0"/>
                    <a:pt x="1184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99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26572" cy="4083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93679" y="2267029"/>
            <a:ext cx="13600556" cy="44913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</a:t>
            </a:r>
            <a:r>
              <a:rPr lang="en-US" sz="2079" b="1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oid saveToFile(struct account acc)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{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FILE *fp = fopen("account.txt", "w");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if (fp == NULL) 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{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printf("Error saving data!\n");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return;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}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//printing information to file account.txt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fprintf(fp, "%s\n%d\n%.2f\n%s\n%s\n%s\n",acc.name,acc.pin,acc.balance,acc.bankName,acc.branch,acc.type);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fclose(fp); //closing file</a:t>
            </a:r>
          </a:p>
          <a:p>
            <a:pPr algn="l">
              <a:lnSpc>
                <a:spcPts val="2911"/>
              </a:lnSpc>
              <a:spcBef>
                <a:spcPct val="0"/>
              </a:spcBef>
            </a:pPr>
            <a:r>
              <a:rPr lang="en-US" sz="2079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}</a:t>
            </a:r>
          </a:p>
          <a:p>
            <a:pPr algn="l">
              <a:lnSpc>
                <a:spcPts val="105"/>
              </a:lnSpc>
              <a:spcBef>
                <a:spcPct val="0"/>
              </a:spcBef>
            </a:pPr>
            <a:endParaRPr lang="en-US" sz="2079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028700" y="2314654"/>
            <a:ext cx="13821696" cy="4443691"/>
            <a:chOff x="0" y="0"/>
            <a:chExt cx="3640282" cy="11703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40282" cy="1170355"/>
            </a:xfrm>
            <a:custGeom>
              <a:avLst/>
              <a:gdLst/>
              <a:ahLst/>
              <a:cxnLst/>
              <a:rect l="l" t="t" r="r" b="b"/>
              <a:pathLst>
                <a:path w="3640282" h="1170355">
                  <a:moveTo>
                    <a:pt x="9522" y="0"/>
                  </a:moveTo>
                  <a:lnTo>
                    <a:pt x="3630760" y="0"/>
                  </a:lnTo>
                  <a:cubicBezTo>
                    <a:pt x="3633285" y="0"/>
                    <a:pt x="3635707" y="1003"/>
                    <a:pt x="3637493" y="2789"/>
                  </a:cubicBezTo>
                  <a:cubicBezTo>
                    <a:pt x="3639279" y="4575"/>
                    <a:pt x="3640282" y="6997"/>
                    <a:pt x="3640282" y="9522"/>
                  </a:cubicBezTo>
                  <a:lnTo>
                    <a:pt x="3640282" y="1160833"/>
                  </a:lnTo>
                  <a:cubicBezTo>
                    <a:pt x="3640282" y="1163358"/>
                    <a:pt x="3639279" y="1165780"/>
                    <a:pt x="3637493" y="1167566"/>
                  </a:cubicBezTo>
                  <a:cubicBezTo>
                    <a:pt x="3635707" y="1169351"/>
                    <a:pt x="3633285" y="1170355"/>
                    <a:pt x="3630760" y="1170355"/>
                  </a:cubicBezTo>
                  <a:lnTo>
                    <a:pt x="9522" y="1170355"/>
                  </a:lnTo>
                  <a:cubicBezTo>
                    <a:pt x="6997" y="1170355"/>
                    <a:pt x="4575" y="1169351"/>
                    <a:pt x="2789" y="1167566"/>
                  </a:cubicBezTo>
                  <a:cubicBezTo>
                    <a:pt x="1003" y="1165780"/>
                    <a:pt x="0" y="1163358"/>
                    <a:pt x="0" y="1160833"/>
                  </a:cubicBezTo>
                  <a:lnTo>
                    <a:pt x="0" y="9522"/>
                  </a:lnTo>
                  <a:cubicBezTo>
                    <a:pt x="0" y="6997"/>
                    <a:pt x="1003" y="4575"/>
                    <a:pt x="2789" y="2789"/>
                  </a:cubicBezTo>
                  <a:cubicBezTo>
                    <a:pt x="4575" y="1003"/>
                    <a:pt x="6997" y="0"/>
                    <a:pt x="952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4AAD"/>
              </a:solidFill>
              <a:prstDash val="lg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640282" cy="1208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6905284"/>
            <a:ext cx="11802208" cy="3187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14"/>
              </a:lnSpc>
            </a:pPr>
            <a:r>
              <a:rPr lang="en-US" sz="2224" b="1">
                <a:solidFill>
                  <a:srgbClr val="004AAD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void checkBalance(struct account acc)</a:t>
            </a:r>
          </a:p>
          <a:p>
            <a:pPr algn="just">
              <a:lnSpc>
                <a:spcPts val="3114"/>
              </a:lnSpc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{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printf("\nYour balance: Rs %.2f\n", acc.balance);//printing acc balance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if (acc.balance &lt; 1000)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{ printf("\n WARNING:Your balance is very low.Please deposit soon.\n");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       }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r>
              <a:rPr lang="en-US" sz="2224">
                <a:solidFill>
                  <a:srgbClr val="004AAD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}</a:t>
            </a:r>
          </a:p>
          <a:p>
            <a:pPr algn="just">
              <a:lnSpc>
                <a:spcPts val="3114"/>
              </a:lnSpc>
              <a:spcBef>
                <a:spcPct val="0"/>
              </a:spcBef>
            </a:pPr>
            <a:endParaRPr lang="en-US" sz="2224">
              <a:solidFill>
                <a:srgbClr val="004AAD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829242" y="6962434"/>
            <a:ext cx="11656476" cy="3324566"/>
            <a:chOff x="0" y="0"/>
            <a:chExt cx="3070018" cy="8756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070018" cy="875606"/>
            </a:xfrm>
            <a:custGeom>
              <a:avLst/>
              <a:gdLst/>
              <a:ahLst/>
              <a:cxnLst/>
              <a:rect l="l" t="t" r="r" b="b"/>
              <a:pathLst>
                <a:path w="3070018" h="875606">
                  <a:moveTo>
                    <a:pt x="11291" y="0"/>
                  </a:moveTo>
                  <a:lnTo>
                    <a:pt x="3058727" y="0"/>
                  </a:lnTo>
                  <a:cubicBezTo>
                    <a:pt x="3064963" y="0"/>
                    <a:pt x="3070018" y="5055"/>
                    <a:pt x="3070018" y="11291"/>
                  </a:cubicBezTo>
                  <a:lnTo>
                    <a:pt x="3070018" y="864315"/>
                  </a:lnTo>
                  <a:cubicBezTo>
                    <a:pt x="3070018" y="867309"/>
                    <a:pt x="3068829" y="870181"/>
                    <a:pt x="3066711" y="872299"/>
                  </a:cubicBezTo>
                  <a:cubicBezTo>
                    <a:pt x="3064594" y="874416"/>
                    <a:pt x="3061722" y="875606"/>
                    <a:pt x="3058727" y="875606"/>
                  </a:cubicBezTo>
                  <a:lnTo>
                    <a:pt x="11291" y="875606"/>
                  </a:lnTo>
                  <a:cubicBezTo>
                    <a:pt x="5055" y="875606"/>
                    <a:pt x="0" y="870551"/>
                    <a:pt x="0" y="864315"/>
                  </a:cubicBezTo>
                  <a:lnTo>
                    <a:pt x="0" y="11291"/>
                  </a:lnTo>
                  <a:cubicBezTo>
                    <a:pt x="0" y="5055"/>
                    <a:pt x="5055" y="0"/>
                    <a:pt x="1129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133E87"/>
              </a:solidFill>
              <a:prstDash val="lgDash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3070018" cy="913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337419" y="6352894"/>
            <a:ext cx="3636435" cy="341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5"/>
              </a:lnSpc>
              <a:spcBef>
                <a:spcPct val="0"/>
              </a:spcBef>
            </a:pPr>
            <a:r>
              <a:rPr lang="en-US" sz="3625" b="1" i="1" u="sng">
                <a:solidFill>
                  <a:srgbClr val="004AAD"/>
                </a:solidFill>
                <a:latin typeface="Helvetica World Bold Italics"/>
                <a:ea typeface="Helvetica World Bold Italics"/>
                <a:cs typeface="Helvetica World Bold Italics"/>
                <a:sym typeface="Helvetica World Bold Italics"/>
              </a:rPr>
              <a:t>“All other test cases and full source code are available in the project report.”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1558</Words>
  <Application>Microsoft Office PowerPoint</Application>
  <PresentationFormat>Custom</PresentationFormat>
  <Paragraphs>283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3" baseType="lpstr">
      <vt:lpstr>Arial</vt:lpstr>
      <vt:lpstr>Helvetica World Bold Italics</vt:lpstr>
      <vt:lpstr>Canva Sans</vt:lpstr>
      <vt:lpstr>Calibri</vt:lpstr>
      <vt:lpstr>DM Serif Display</vt:lpstr>
      <vt:lpstr>Helvetica World</vt:lpstr>
      <vt:lpstr>Helvetica World Bold</vt:lpstr>
      <vt:lpstr>Georgia Pro Condensed</vt:lpstr>
      <vt:lpstr>Mangal</vt:lpstr>
      <vt:lpstr>Times New Roman MT Bold</vt:lpstr>
      <vt:lpstr>Times New Roman Bold</vt:lpstr>
      <vt:lpstr>Times New Roman MT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C ATM Simulator Project</dc:title>
  <dc:creator>pc</dc:creator>
  <dc:description>Presentation - C ATM Simulator Project</dc:description>
  <cp:lastModifiedBy>pc</cp:lastModifiedBy>
  <cp:revision>13</cp:revision>
  <dcterms:created xsi:type="dcterms:W3CDTF">2006-08-16T00:00:00Z</dcterms:created>
  <dcterms:modified xsi:type="dcterms:W3CDTF">2025-12-03T10:09:44Z</dcterms:modified>
  <dc:identifier>DAG6RwReqr8</dc:identifier>
</cp:coreProperties>
</file>